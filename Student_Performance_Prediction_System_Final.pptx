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evaluators and faculty. Today I am presenting the completed and deployed Student Performance Prediction System for my SkillOrbit Machine Learning Capstone. In educational institutions, early warning systems are crucial for student success, but traditional tools often fail because they are either opaque black boxes or provide vague advice. In this project, we built an end-to-end platform that not only predicts academic bands with 82.3% accuracy, but explains why using SHAP, provides actionable counterfactual guidance with frozen demographics, audits fairness with Fairlearn, and serves both an interactive 7-page dashboard and a sub-10ms FastAPI endpoint. Let us begin with the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educational institutions, identifying students at risk of failing typically happens after midterm or final exams—when it is already too late for proactive intervention. Many automated tools output a simple failure percentage, but cannot explain why the student is at risk or what specific behavioral adjustments would change that outcome. Furthermore, using complex neural networks on small student datasets risks severe overfitting and hidden bias. Our system addresses this by engineering a transparent, sample-efficient classical machine learning pipeline that pairs accurate classification with individual explanation and actionable recourse.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six primary objectives defined by the SkillOrbit capstone brief, all of which have been fully completed. First, building a leak-free data pipeline with multi-stage schema validation. Second, benchmarking classical models without unnecessary deep learning complexity. Third, delivering exact game-theoretic explanations and counterfactual recourse. Fourth, auditing algorithmic fairness under established regulatory guidelines. Fifth, providing policy-level cohort simulation. And sixth, deploying the entire system across both an interactive user dashboard and an enterprise REST API.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high-level architecture diagram illustrates the five decoupled layers of the completed system. On the left, raw LMS telemetry flows through our data validation and leak-free preprocessing pipeline. In the center, our champion Random Forest model evaluates multi-class performance bands. On the right, predictions feed directly into our TreeSHAP explainability engine, DiCE counterfactual recourse generator, Fairlearn disparity auditor, and Monte Carlo cohort simulator. At the bottom, both our 7-page Streamlit portal and FastAPI REST service consume the identical serialized model bundle, guaranteeing zero training-serving skew and sub-10ms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dataset: we utilized the benchmark xAPI-Edu-Data dataset, capturing real student telemetry from the Kalboard 360 LMS. A key advantage of this dataset is that the target variable ships natively as three performance tiers: Low, Medium, and High—eliminating any need for arbitrary post-hoc thresholding. Notice the class distribution: Medium constitutes 44.1%, High 29.7%, and Low 26.2%. Because the at-risk Low cohort represents only a quarter of the students, evaluating models strictly on overall accuracy would be misleading. Therefore, we designated Macro-F1 as our primary optimization metric to ensure equal weighting across classes.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leakage is a frequent flaw in academic machine learning projects. Here we detail our leak-free engineering pipeline. First, we split the 478 students into an 80% training set (382 students) and an untouched 20% holdout test set (96 students), stratifying across the target classes. Second, our scikit-learn ColumnTransformer is fitted strictly inside the training folds. Continuous engagement counters are normalized using StandardScaler, nominal categories are one-hot encoded, and binary features are mapped ordinally to maintain SHAP directional readability. The entire transformation pipeline is serialized directly inside model.joblib, ensuring that test and inference data never leak statistical properties into model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exploratory distributions on this slide, we observe striking behavioral divergence across performance bands. In the boxplots on the left, high-achieving students open nearly four times as many digital learning resources as struggling peers (an average of 78.8 visits compared to 18.4). A similar separation is visible in classroom hand-raising, where low-performing students average under 17 interactions. Chronic absenteeism is heavily concentrated in the low band. These visual patterns strongly suggest that digital telemetry carries rich signal, but we must verify this statistically.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relying on informal heuristics, we conducted formal hypothesis tests for every single feature against student performance. To guard against false positives across 13 distinct tests, all p-values were adjusted using the Holm-Bonferroni step-down correction at alpha 0.05. As shown in the table and chart, 12 features were confirmed statistically significant. School absences exhibited an enormous association with a Cramer's V of 0.6798. Learning resources and hand-raising yielded massive ANOVA eta-squared effect sizes of 0.4881 and 0.4235. Non-parametric Kruskal-Wallis tests simultaneously confirmed these separations without relying on normality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model benchmarking results across four classical architectures. Random Forest emerged as the clear champion, achieving 82.29% holdout accuracy, 82.82% Macro-F1, and a Cohen's Kappa of 0.7285. Notice how it outperforms multinomial logistic regression by over 8 percentage points, and gradient boosting by over 11 points. Evaluators often ask: why not use deep learning? On tabular cohorts with 478 students, deep neural networks overfit rapidly. More importantly, an unexplained prediction is legally and pedagogically unusable in education. Random Forest gives us optimal sample efficiency, exact TreeSHAP attribution, and sub-10ms CPU inference.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the final holdout performance of our champion Random Forest model. It attained an accuracy of 82.29%, a macro-F1 of 82.82%, and a Cohen's kappa of 0.7285, indicating substantial inter-rater reliability. Crucially, to verify that this was not an artifact of a lucky test split, we ran a 2,000-iteration empirical bootstrap, establishing that the true population Macro-F1 lies between 75.2% and 89.8% with 95% confidence. Furthermore, McNemar's exact test yields p = 0.0143, confirming that the improvement over baseline trees is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breaks down our confusion matrix and severe error audit. In educational settings, not all errors are created equal. Predicting a high-achieving student as failing, or vice versa, is a severe error that destroys institutional trust. As you can see, our severe error rate is exactly 0.0%—zero out of 96 students. All 17 errors occurred between adjacent boundaries, such as a borderline Medium student scoring high enough to touch the Low threshold. Most importantly for an early warning system, our sensitivity for the Low class is 92.0%, ensuring nearly all at-risk students receive support.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explainability on Slide 12: we integrated TreeSHAP to compute exact Shapley feature attributions. Unlike heuristic feature importance metrics, SHAP values are rooted in cooperative game theory and satisfy the axioms of efficiency, symmetry, and additivity. Globally, attendance accounts for 28.5% of total predictive weight, followed by digital learning resources at 20.2% and hand-raising at 11.9%. At the individual student level, TreeSHAP decomposes predictions into an additive waterfall, showing educators exactly which behavioral deficits dragged a student into the at-risk category.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presents our counterfactual recourse engine using DiCE. A prediction only tells an educator where a student is; counterfactuals show how to change that outcome. We formulate this as a constrained optimization problem seeking the minimal behavioral shift necessary to reach a higher academic band. Most importantly, protected demographic attributes—such as gender, nationality, and place of birth—are mathematically frozen. As shown in the verified case study, for a student predicted Low, increasing resource visits and reducing absences shifts their prediction to Medium with 81% confidence. In our audit, 100% of tested at-risk students had realistic, feasible 1-to-2 feature recourse pathways.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outlines our prescriptive recommendation engine. We translate counterfactual mathematical outputs into concrete, plain-English pedagogical guidance. For instance, when attendance is flagged, the system does not simply print 'attend class'; it advises scheduling a 48-hour mentor check-in to identify root causes. When resource interaction is low, it suggests assigning structured reading packages. We emphasize throughout that these recommendations are evidence-based hypotheses for educators to test, not contractual guarantees.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15, we zoom out from individual students to cohort-level analytics across 12 academic subjects. The data reveals significant subject-level variation, with Cramér's V = 0.2269. Subjects like Biology and Geology show elevated proportions of High performers, whereas IT and History have higher Low-tier concentration, correlating with lower portal interaction. In keeping with academic rigor, we deliberately label these 'Performance Patterns' rather than claiming longitudinal trends, accurately reflecting the cross-sectional nature of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algorithmic fairness audit conducted using the Fairlearn library. Educational machine learning requires strict governance. We evaluated Demographic Parity and Equalized Odds across protected attributes. Across gender, our Demographic Parity Ratio is 0.982, comfortably surpassing the EEOC four-fifths standard of 0.80. In keeping with academic honesty, we do not make sweeping claims that the model is 'completely unbiased'. We document that smaller nationality subgroups with sample sizes under 20 carry wider statistical uncertainty and require ongoing audit.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covers our Monte Carlo cohort policy simulator. Administrators need to know how school-wide initiatives might impact overall grade distributions. We model this through 500 stochastic simulation iterations over the entire student body. For example, a 15% increase in classroom engagement yields a simulated +7.7 percentage-point expansion in high-performing students. An attendance drive cutting chronic truancy reduces the low-performing cohort by 8.2 percentage points. We clearly communicate to stakeholders that these represent model-based scenario explorations to guide policy planning, not guaranteed causal outcomes.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showcases our deployed Streamlit Decision Hub. Structured into seven purpose-built operational views, it serves both classroom teachers and institutional administrators. Features include student check-in with SHAP waterfalls, real-time What-If sliders, class-wide intervention simulation, and a dedicated Trust &amp; Fairness governance panel. The interface follows a clean, accessible design system with responsive layouts and full mobile support.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19, we highlight our production engineering rigor. In addition to the web UI, we deployed a high-performance FastAPI REST microservice capable of sub-10 millisecond inference per student. Crucially, our automated test suite contains 43 unit and integration tests covering preprocessing, model persistence, and REST endpoints. The test suite explicitly asserts 100% mathematical parity between API and dashboard outputs, eliminating training-serving skew. All 43 tests pass under automated continuous integration via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 Slide 20: the Student Performance Prediction System successfully fulfills every objective of the SkillOrbit capstone project. We have demonstrated that classical ensemble machine learning, when combined with statistical rigor and responsible AI practices, delivers superior accuracy, complete transparency, and actionable utility on educational data without unnecessary complexity. The system is fully tested, evaluated, and deployed, providing an end-to-end framework for data analysis, performance prediction, explanation, recommendation, what-if exploration, cohort simulation, and ethical decision support. Thank you very much for your time, and I am now pleased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731520"/>
            <a:ext cx="10728655" cy="5394960"/>
          </a:xfrm>
          <a:prstGeom prst="roundRect">
            <a:avLst/>
          </a:prstGeom>
          <a:solidFill>
            <a:srgbClr val="F8FAFC"/>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1371600"/>
            <a:ext cx="9601200" cy="2011680"/>
          </a:xfrm>
          <a:prstGeom prst="rect">
            <a:avLst/>
          </a:prstGeom>
          <a:noFill/>
        </p:spPr>
        <p:txBody>
          <a:bodyPr wrap="square">
            <a:spAutoFit/>
          </a:bodyPr>
          <a:lstStyle/>
          <a:p>
            <a:pPr>
              <a:defRPr sz="3200" b="1">
                <a:solidFill>
                  <a:srgbClr val="0F172A"/>
                </a:solidFill>
              </a:defRPr>
            </a:pPr>
            <a:r>
              <a:t>Student Performance Prediction System</a:t>
            </a:r>
          </a:p>
          <a:p>
            <a:pPr>
              <a:spcBef>
                <a:spcPts val="1200"/>
              </a:spcBef>
              <a:defRPr sz="1400">
                <a:solidFill>
                  <a:srgbClr val="475569"/>
                </a:solidFill>
              </a:defRPr>
            </a:pPr>
            <a:r>
              <a:t>An End-to-End Decision-Support Platform with Classical Ensemble ML, Game-Theoretic Explainability (TreeSHAP), Algorithmic Recourse (DiCE), and Fairness Auditing</a:t>
            </a:r>
          </a:p>
        </p:txBody>
      </p:sp>
      <p:sp>
        <p:nvSpPr>
          <p:cNvPr id="4" name="TextBox 3"/>
          <p:cNvSpPr txBox="1"/>
          <p:nvPr/>
        </p:nvSpPr>
        <p:spPr>
          <a:xfrm>
            <a:off x="1280160" y="3840480"/>
            <a:ext cx="9601200" cy="1645920"/>
          </a:xfrm>
          <a:prstGeom prst="rect">
            <a:avLst/>
          </a:prstGeom>
          <a:noFill/>
        </p:spPr>
        <p:txBody>
          <a:bodyPr wrap="square">
            <a:spAutoFit/>
          </a:bodyPr>
          <a:lstStyle/>
          <a:p>
            <a:pPr>
              <a:defRPr sz="1200" b="1">
                <a:solidFill>
                  <a:srgbClr val="1E293B"/>
                </a:solidFill>
              </a:defRPr>
            </a:pPr>
            <a:r>
              <a:t>Candidate: Satyam  |  Track: Machine Learning Capstone  |  SkillOrbit Academic Evaluation</a:t>
            </a:r>
          </a:p>
          <a:p>
            <a:pPr>
              <a:spcBef>
                <a:spcPts val="600"/>
              </a:spcBef>
              <a:defRPr sz="1100">
                <a:solidFill>
                  <a:srgbClr val="475569"/>
                </a:solidFill>
              </a:defRPr>
            </a:pPr>
            <a:r>
              <a:t>Evaluated Champion: Tuned Random Forest (82.29% Accuracy, 82.82% Macro-F1, 0 Severe Errors)</a:t>
            </a:r>
            <a:br/>
            <a:r>
              <a:t>Dual Deployed: Streamlit Decision Hub (7 Pages) &amp; High-Performance FastAPI REST Microservice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EDUCATIONAL DATA MINING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Problem Statement &amp; Educational Context</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600" b="1">
                <a:solidFill>
                  <a:srgbClr val="0F172A"/>
                </a:solidFill>
              </a:defRPr>
            </a:pPr>
            <a:r>
              <a:t>The Pedagogical Challenge</a:t>
            </a:r>
          </a:p>
          <a:p>
            <a:pPr>
              <a:spcBef>
                <a:spcPts val="800"/>
              </a:spcBef>
              <a:defRPr sz="1150">
                <a:solidFill>
                  <a:srgbClr val="1E293B"/>
                </a:solidFill>
              </a:defRPr>
            </a:pPr>
            <a:r>
              <a:t>• Summative assessments identify learning deficits too late for proactive intervention.</a:t>
            </a:r>
          </a:p>
          <a:p>
            <a:pPr>
              <a:spcBef>
                <a:spcPts val="800"/>
              </a:spcBef>
              <a:defRPr sz="1150">
                <a:solidFill>
                  <a:srgbClr val="1E293B"/>
                </a:solidFill>
              </a:defRPr>
            </a:pPr>
            <a:r>
              <a:t>• Traditional early-warning indicators provide arbitrary risk scores without diagnostic context.</a:t>
            </a:r>
          </a:p>
          <a:p>
            <a:pPr>
              <a:spcBef>
                <a:spcPts val="800"/>
              </a:spcBef>
              <a:defRPr sz="1150">
                <a:solidFill>
                  <a:srgbClr val="1E293B"/>
                </a:solidFill>
              </a:defRPr>
            </a:pPr>
            <a:r>
              <a:t>• Generic guidance ('study more') fails to provide students with achievable, concrete targets.</a:t>
            </a:r>
          </a:p>
          <a:p>
            <a:pPr>
              <a:spcBef>
                <a:spcPts val="800"/>
              </a:spcBef>
              <a:defRPr sz="1150">
                <a:solidFill>
                  <a:srgbClr val="1E293B"/>
                </a:solidFill>
              </a:defRPr>
            </a:pPr>
            <a:r>
              <a:t>• Opaque black-box models risk codifying demographic bias without oversight.</a:t>
            </a:r>
          </a:p>
          <a:p>
            <a:pPr>
              <a:spcBef>
                <a:spcPts val="800"/>
              </a:spcBef>
              <a:defRPr sz="1150">
                <a:solidFill>
                  <a:srgbClr val="1E293B"/>
                </a:solidFill>
              </a:defRPr>
            </a:pPr>
            <a:r>
              <a:t>• Educators need evidence-based decision support, not uninterpretable machine decisions.</a:t>
            </a:r>
          </a:p>
        </p:txBody>
      </p:sp>
      <p:sp>
        <p:nvSpPr>
          <p:cNvPr id="6" name="Rounded Rectangle 5"/>
          <p:cNvSpPr/>
          <p:nvPr/>
        </p:nvSpPr>
        <p:spPr>
          <a:xfrm>
            <a:off x="6217920" y="1371600"/>
            <a:ext cx="5212080" cy="475488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600" b="1">
                <a:solidFill>
                  <a:srgbClr val="2563EB"/>
                </a:solidFill>
              </a:defRPr>
            </a:pPr>
            <a:r>
              <a:t>The Engineering Response</a:t>
            </a:r>
          </a:p>
          <a:p>
            <a:pPr>
              <a:spcBef>
                <a:spcPts val="800"/>
              </a:spcBef>
              <a:defRPr sz="1150">
                <a:solidFill>
                  <a:srgbClr val="1E293B"/>
                </a:solidFill>
              </a:defRPr>
            </a:pPr>
            <a:r>
              <a:t>✔ Predictive Multi-Class Modeling: Classifies students into Low, Medium, and High performance tiers.</a:t>
            </a:r>
          </a:p>
          <a:p>
            <a:pPr>
              <a:spcBef>
                <a:spcPts val="800"/>
              </a:spcBef>
              <a:defRPr sz="1150">
                <a:solidFill>
                  <a:srgbClr val="1E293B"/>
                </a:solidFill>
              </a:defRPr>
            </a:pPr>
            <a:r>
              <a:t>✔ Game-Theoretic Attribution (TreeSHAP): Isolate exact push/pull forces for every individual student.</a:t>
            </a:r>
          </a:p>
          <a:p>
            <a:pPr>
              <a:spcBef>
                <a:spcPts val="800"/>
              </a:spcBef>
              <a:defRPr sz="1150">
                <a:solidFill>
                  <a:srgbClr val="1E293B"/>
                </a:solidFill>
              </a:defRPr>
            </a:pPr>
            <a:r>
              <a:t>✔ Actionable Recourse (DiCE): Compute minimal behavioral shifts while strictly freezing demographics.</a:t>
            </a:r>
          </a:p>
          <a:p>
            <a:pPr>
              <a:spcBef>
                <a:spcPts val="800"/>
              </a:spcBef>
              <a:defRPr sz="1150">
                <a:solidFill>
                  <a:srgbClr val="1E293B"/>
                </a:solidFill>
              </a:defRPr>
            </a:pPr>
            <a:r>
              <a:t>✔ Algorithmic Fairness Audit: Rigorous demographic parity evaluation across gender and nationality.</a:t>
            </a:r>
          </a:p>
          <a:p>
            <a:pPr>
              <a:spcBef>
                <a:spcPts val="800"/>
              </a:spcBef>
              <a:defRPr sz="1150">
                <a:solidFill>
                  <a:srgbClr val="1E293B"/>
                </a:solidFill>
              </a:defRPr>
            </a:pPr>
            <a:r>
              <a:t>✔ Dual-Channel Production: Accessible Streamlit portal + sub-10ms FastAPI REST microservice.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CAPSTONE REQUIREMENTS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Project Objectives &amp; Completed Scope</a:t>
            </a:r>
          </a:p>
        </p:txBody>
      </p:sp>
      <p:sp>
        <p:nvSpPr>
          <p:cNvPr id="4" name="Rounded Rectangle 3"/>
          <p:cNvSpPr/>
          <p:nvPr/>
        </p:nvSpPr>
        <p:spPr>
          <a:xfrm>
            <a:off x="731520" y="1371600"/>
            <a:ext cx="3383280" cy="2194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1828800"/>
          </a:xfrm>
          <a:prstGeom prst="rect">
            <a:avLst/>
          </a:prstGeom>
          <a:noFill/>
        </p:spPr>
        <p:txBody>
          <a:bodyPr wrap="square">
            <a:spAutoFit/>
          </a:bodyPr>
          <a:lstStyle/>
          <a:p>
            <a:pPr>
              <a:defRPr sz="1300" b="1">
                <a:solidFill>
                  <a:srgbClr val="2563EB"/>
                </a:solidFill>
              </a:defRPr>
            </a:pPr>
            <a:r>
              <a:t>1. Rigorous Data Pipeline</a:t>
            </a:r>
          </a:p>
          <a:p>
            <a:pPr>
              <a:spcBef>
                <a:spcPts val="600"/>
              </a:spcBef>
              <a:defRPr sz="1050">
                <a:solidFill>
                  <a:srgbClr val="1E293B"/>
                </a:solidFill>
              </a:defRPr>
            </a:pPr>
            <a:r>
              <a:t>Clean, deduplicate, and validate multi-modal telemetry; zero data leakage via scikit-learn ColumnTransformer fitted inside cross-validation folds.</a:t>
            </a:r>
          </a:p>
        </p:txBody>
      </p:sp>
      <p:sp>
        <p:nvSpPr>
          <p:cNvPr id="6" name="Rounded Rectangle 5"/>
          <p:cNvSpPr/>
          <p:nvPr/>
        </p:nvSpPr>
        <p:spPr>
          <a:xfrm>
            <a:off x="4389120" y="1371600"/>
            <a:ext cx="3383280" cy="21945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1828800"/>
          </a:xfrm>
          <a:prstGeom prst="rect">
            <a:avLst/>
          </a:prstGeom>
          <a:noFill/>
        </p:spPr>
        <p:txBody>
          <a:bodyPr wrap="square">
            <a:spAutoFit/>
          </a:bodyPr>
          <a:lstStyle/>
          <a:p>
            <a:pPr>
              <a:defRPr sz="1300" b="1">
                <a:solidFill>
                  <a:srgbClr val="059669"/>
                </a:solidFill>
              </a:defRPr>
            </a:pPr>
            <a:r>
              <a:t>2. Classical ML Benchmark</a:t>
            </a:r>
          </a:p>
          <a:p>
            <a:pPr>
              <a:spcBef>
                <a:spcPts val="600"/>
              </a:spcBef>
              <a:defRPr sz="1050">
                <a:solidFill>
                  <a:srgbClr val="1E293B"/>
                </a:solidFill>
              </a:defRPr>
            </a:pPr>
            <a:r>
              <a:t>Evaluate Logistic Regression, Decision Trees, Random Forest, and Gradient Boosting under 5-fold CV to select the optimal sample-efficient model.</a:t>
            </a:r>
          </a:p>
        </p:txBody>
      </p:sp>
      <p:sp>
        <p:nvSpPr>
          <p:cNvPr id="8" name="Rounded Rectangle 7"/>
          <p:cNvSpPr/>
          <p:nvPr/>
        </p:nvSpPr>
        <p:spPr>
          <a:xfrm>
            <a:off x="8046720" y="1371600"/>
            <a:ext cx="3383280" cy="2194560"/>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1828800"/>
          </a:xfrm>
          <a:prstGeom prst="rect">
            <a:avLst/>
          </a:prstGeom>
          <a:noFill/>
        </p:spPr>
        <p:txBody>
          <a:bodyPr wrap="square">
            <a:spAutoFit/>
          </a:bodyPr>
          <a:lstStyle/>
          <a:p>
            <a:pPr>
              <a:defRPr sz="1300" b="1">
                <a:solidFill>
                  <a:srgbClr val="7C3AED"/>
                </a:solidFill>
              </a:defRPr>
            </a:pPr>
            <a:r>
              <a:t>3. Actionable Explainability</a:t>
            </a:r>
          </a:p>
          <a:p>
            <a:pPr>
              <a:spcBef>
                <a:spcPts val="600"/>
              </a:spcBef>
              <a:defRPr sz="1050">
                <a:solidFill>
                  <a:srgbClr val="1E293B"/>
                </a:solidFill>
              </a:defRPr>
            </a:pPr>
            <a:r>
              <a:t>Deconstruct individual predictions with TreeSHAP and calculate minimal realistic recourse paths with DiCE while freezing protected traits.</a:t>
            </a:r>
          </a:p>
        </p:txBody>
      </p:sp>
      <p:sp>
        <p:nvSpPr>
          <p:cNvPr id="10" name="Rounded Rectangle 9"/>
          <p:cNvSpPr/>
          <p:nvPr/>
        </p:nvSpPr>
        <p:spPr>
          <a:xfrm>
            <a:off x="731520" y="3840480"/>
            <a:ext cx="3383280" cy="21945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3017520" cy="1828800"/>
          </a:xfrm>
          <a:prstGeom prst="rect">
            <a:avLst/>
          </a:prstGeom>
          <a:noFill/>
        </p:spPr>
        <p:txBody>
          <a:bodyPr wrap="square">
            <a:spAutoFit/>
          </a:bodyPr>
          <a:lstStyle/>
          <a:p>
            <a:pPr>
              <a:defRPr sz="1300" b="1">
                <a:solidFill>
                  <a:srgbClr val="D97706"/>
                </a:solidFill>
              </a:defRPr>
            </a:pPr>
            <a:r>
              <a:t>4. Ethical Governance</a:t>
            </a:r>
          </a:p>
          <a:p>
            <a:pPr>
              <a:spcBef>
                <a:spcPts val="600"/>
              </a:spcBef>
              <a:defRPr sz="1050">
                <a:solidFill>
                  <a:srgbClr val="1E293B"/>
                </a:solidFill>
              </a:defRPr>
            </a:pPr>
            <a:r>
              <a:t>Conduct algorithmic fairness audits using Fairlearn for demographic parity and equalized odds across gender and nationality cohorts.</a:t>
            </a:r>
          </a:p>
        </p:txBody>
      </p:sp>
      <p:sp>
        <p:nvSpPr>
          <p:cNvPr id="12" name="Rounded Rectangle 11"/>
          <p:cNvSpPr/>
          <p:nvPr/>
        </p:nvSpPr>
        <p:spPr>
          <a:xfrm>
            <a:off x="4389120" y="3840480"/>
            <a:ext cx="3383280" cy="2194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3017520" cy="1828800"/>
          </a:xfrm>
          <a:prstGeom prst="rect">
            <a:avLst/>
          </a:prstGeom>
          <a:noFill/>
        </p:spPr>
        <p:txBody>
          <a:bodyPr wrap="square">
            <a:spAutoFit/>
          </a:bodyPr>
          <a:lstStyle/>
          <a:p>
            <a:pPr>
              <a:defRPr sz="1300" b="1">
                <a:solidFill>
                  <a:srgbClr val="2563EB"/>
                </a:solidFill>
              </a:defRPr>
            </a:pPr>
            <a:r>
              <a:t>5. Cohort Policy Simulation</a:t>
            </a:r>
          </a:p>
          <a:p>
            <a:pPr>
              <a:spcBef>
                <a:spcPts val="600"/>
              </a:spcBef>
              <a:defRPr sz="1050">
                <a:solidFill>
                  <a:srgbClr val="1E293B"/>
                </a:solidFill>
              </a:defRPr>
            </a:pPr>
            <a:r>
              <a:t>Run 500-iteration Monte Carlo stochastic simulations to test institutional intervention policies before implementation.</a:t>
            </a:r>
          </a:p>
        </p:txBody>
      </p:sp>
      <p:sp>
        <p:nvSpPr>
          <p:cNvPr id="14" name="Rounded Rectangle 13"/>
          <p:cNvSpPr/>
          <p:nvPr/>
        </p:nvSpPr>
        <p:spPr>
          <a:xfrm>
            <a:off x="8046720" y="3840480"/>
            <a:ext cx="3383280" cy="21945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4023360"/>
            <a:ext cx="3017520" cy="1828800"/>
          </a:xfrm>
          <a:prstGeom prst="rect">
            <a:avLst/>
          </a:prstGeom>
          <a:noFill/>
        </p:spPr>
        <p:txBody>
          <a:bodyPr wrap="square">
            <a:spAutoFit/>
          </a:bodyPr>
          <a:lstStyle/>
          <a:p>
            <a:pPr>
              <a:defRPr sz="1300" b="1">
                <a:solidFill>
                  <a:srgbClr val="059669"/>
                </a:solidFill>
              </a:defRPr>
            </a:pPr>
            <a:r>
              <a:t>6. Production Deployment</a:t>
            </a:r>
          </a:p>
          <a:p>
            <a:pPr>
              <a:spcBef>
                <a:spcPts val="600"/>
              </a:spcBef>
              <a:defRPr sz="1050">
                <a:solidFill>
                  <a:srgbClr val="1E293B"/>
                </a:solidFill>
              </a:defRPr>
            </a:pPr>
            <a:r>
              <a:t>Deliver dual serving surfaces: an interactive 7-page Streamlit portal and a sub-10ms FastAPI microservice, backed by 43 automated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SYSTEM ARCHITECTURE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End-to-End System Architecture</a:t>
            </a:r>
          </a:p>
        </p:txBody>
      </p:sp>
      <p:pic>
        <p:nvPicPr>
          <p:cNvPr id="4" name="Picture 3" descr="system_architecture.png"/>
          <p:cNvPicPr>
            <a:picLocks noChangeAspect="1"/>
          </p:cNvPicPr>
          <p:nvPr/>
        </p:nvPicPr>
        <p:blipFill>
          <a:blip r:embed="rId2"/>
          <a:stretch>
            <a:fillRect/>
          </a:stretch>
        </p:blipFill>
        <p:spPr>
          <a:xfrm>
            <a:off x="731520" y="1280160"/>
            <a:ext cx="1072865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DATASET SPECIFICATIONS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Dataset Provenance &amp; Quality Engineering</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Benchmark Characteristics (xAPI-Edu-Data)</a:t>
            </a:r>
          </a:p>
          <a:p>
            <a:pPr>
              <a:spcBef>
                <a:spcPts val="500"/>
              </a:spcBef>
              <a:defRPr sz="1050">
                <a:solidFill>
                  <a:srgbClr val="1E293B"/>
                </a:solidFill>
              </a:defRPr>
            </a:pPr>
            <a:r>
              <a:t>• Source Benchmark: xAPI-Edu-Data (Amrieh et al., 2016)</a:t>
            </a:r>
          </a:p>
          <a:p>
            <a:pPr>
              <a:spcBef>
                <a:spcPts val="500"/>
              </a:spcBef>
              <a:defRPr sz="1050">
                <a:solidFill>
                  <a:srgbClr val="1E293B"/>
                </a:solidFill>
              </a:defRPr>
            </a:pPr>
            <a:r>
              <a:t>• Target Variable: Class (Low: 0-69, Medium: 70-89, High: 90-100)</a:t>
            </a:r>
          </a:p>
          <a:p>
            <a:pPr>
              <a:spcBef>
                <a:spcPts val="500"/>
              </a:spcBef>
              <a:defRPr sz="1050">
                <a:solidFill>
                  <a:srgbClr val="1E293B"/>
                </a:solidFill>
              </a:defRPr>
            </a:pPr>
            <a:r>
              <a:t>• Cohort Size: N = 478 unique records (2 exact duplicates purged)</a:t>
            </a:r>
          </a:p>
          <a:p>
            <a:pPr>
              <a:spcBef>
                <a:spcPts val="500"/>
              </a:spcBef>
              <a:defRPr sz="1050">
                <a:solidFill>
                  <a:srgbClr val="1E293B"/>
                </a:solidFill>
              </a:defRPr>
            </a:pPr>
            <a:r>
              <a:t>• Class Balance: Medium: 211 (44.1%), High: 142 (29.7%), Low: 125 (26.2%)</a:t>
            </a:r>
          </a:p>
          <a:p>
            <a:pPr>
              <a:spcBef>
                <a:spcPts val="500"/>
              </a:spcBef>
              <a:defRPr sz="1050">
                <a:solidFill>
                  <a:srgbClr val="1E293B"/>
                </a:solidFill>
              </a:defRPr>
            </a:pPr>
            <a:r>
              <a:t>• Behavioral Features: raisedhands, VisITedResources, AnnouncementsView, Discussion</a:t>
            </a:r>
          </a:p>
          <a:p>
            <a:pPr>
              <a:spcBef>
                <a:spcPts val="500"/>
              </a:spcBef>
              <a:defRPr sz="1050">
                <a:solidFill>
                  <a:srgbClr val="1E293B"/>
                </a:solidFill>
              </a:defRPr>
            </a:pPr>
            <a:r>
              <a:t>• Contextual Indicators: AbsenceDays, SurveyResponse, SchoolSatisfaction, Relation</a:t>
            </a:r>
          </a:p>
          <a:p>
            <a:pPr>
              <a:spcBef>
                <a:spcPts val="500"/>
              </a:spcBef>
              <a:defRPr sz="1050">
                <a:solidFill>
                  <a:srgbClr val="1E293B"/>
                </a:solidFill>
              </a:defRPr>
            </a:pPr>
            <a:r>
              <a:t>• Demographics: gender, NationalITy, PlaceofBirth, Stage, Grade, Topic, Semester</a:t>
            </a:r>
          </a:p>
        </p:txBody>
      </p:sp>
      <p:pic>
        <p:nvPicPr>
          <p:cNvPr id="6" name="Picture 5" descr="01_class_distribution.png"/>
          <p:cNvPicPr>
            <a:picLocks noChangeAspect="1"/>
          </p:cNvPicPr>
          <p:nvPr/>
        </p:nvPicPr>
        <p:blipFill>
          <a:blip r:embed="rId2"/>
          <a:stretch>
            <a:fillRect/>
          </a:stretch>
        </p:blipFill>
        <p:spPr>
          <a:xfrm>
            <a:off x="6217920" y="1371600"/>
            <a:ext cx="5212080" cy="47548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FEATURE ENGINEERING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Leak-Free Preprocessing Pipeline</a:t>
            </a:r>
          </a:p>
        </p:txBody>
      </p:sp>
      <p:pic>
        <p:nvPicPr>
          <p:cNvPr id="4" name="Picture 3" descr="ml_pipeline.png"/>
          <p:cNvPicPr>
            <a:picLocks noChangeAspect="1"/>
          </p:cNvPicPr>
          <p:nvPr/>
        </p:nvPicPr>
        <p:blipFill>
          <a:blip r:embed="rId2"/>
          <a:stretch>
            <a:fillRect/>
          </a:stretch>
        </p:blipFill>
        <p:spPr>
          <a:xfrm>
            <a:off x="731520" y="1280160"/>
            <a:ext cx="107286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EXPLORATORY DATA ANALYSIS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Exploratory Telemetry Distributions</a:t>
            </a:r>
          </a:p>
        </p:txBody>
      </p:sp>
      <p:pic>
        <p:nvPicPr>
          <p:cNvPr id="4" name="Picture 3" descr="03_boxplots_by_class.png"/>
          <p:cNvPicPr>
            <a:picLocks noChangeAspect="1"/>
          </p:cNvPicPr>
          <p:nvPr/>
        </p:nvPicPr>
        <p:blipFill>
          <a:blip r:embed="rId2"/>
          <a:stretch>
            <a:fillRect/>
          </a:stretch>
        </p:blipFill>
        <p:spPr>
          <a:xfrm>
            <a:off x="731520" y="1371600"/>
            <a:ext cx="5486400" cy="4754880"/>
          </a:xfrm>
          <a:prstGeom prst="rect">
            <a:avLst/>
          </a:prstGeom>
        </p:spPr>
      </p:pic>
      <p:sp>
        <p:nvSpPr>
          <p:cNvPr id="5" name="Rounded Rectangle 4"/>
          <p:cNvSpPr/>
          <p:nvPr/>
        </p:nvSpPr>
        <p:spPr>
          <a:xfrm>
            <a:off x="6492240" y="1371600"/>
            <a:ext cx="4937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389120" cy="4206240"/>
          </a:xfrm>
          <a:prstGeom prst="rect">
            <a:avLst/>
          </a:prstGeom>
          <a:noFill/>
        </p:spPr>
        <p:txBody>
          <a:bodyPr wrap="square">
            <a:spAutoFit/>
          </a:bodyPr>
          <a:lstStyle/>
          <a:p>
            <a:pPr>
              <a:defRPr sz="1600" b="1">
                <a:solidFill>
                  <a:srgbClr val="0F172A"/>
                </a:solidFill>
              </a:defRPr>
            </a:pPr>
            <a:r>
              <a:t>Key Behavioral Observations</a:t>
            </a:r>
          </a:p>
          <a:p>
            <a:pPr>
              <a:spcBef>
                <a:spcPts val="800"/>
              </a:spcBef>
              <a:defRPr sz="1100">
                <a:solidFill>
                  <a:srgbClr val="1E293B"/>
                </a:solidFill>
              </a:defRPr>
            </a:pPr>
            <a:r>
              <a:t>• Platform Resource Access: High-performing students average 78.8 LMS resource visits vs. just 18.4 for Low-performing students—a nearly 4x gap.</a:t>
            </a:r>
          </a:p>
          <a:p>
            <a:pPr>
              <a:spcBef>
                <a:spcPts val="800"/>
              </a:spcBef>
              <a:defRPr sz="1100">
                <a:solidFill>
                  <a:srgbClr val="1E293B"/>
                </a:solidFill>
              </a:defRPr>
            </a:pPr>
            <a:r>
              <a:t>• Classroom Participation: Hands raised in class shows sharp tier separation (Means: Low=16.8, Med=48.9, High=70.3).</a:t>
            </a:r>
          </a:p>
          <a:p>
            <a:pPr>
              <a:spcBef>
                <a:spcPts val="800"/>
              </a:spcBef>
              <a:defRPr sz="1100">
                <a:solidFill>
                  <a:srgbClr val="1E293B"/>
                </a:solidFill>
              </a:defRPr>
            </a:pPr>
            <a:r>
              <a:t>• Absence Threshold: Over 70% of Low-performing students have &gt;7 absences, establishing truancy as the primary risk factor.</a:t>
            </a:r>
          </a:p>
          <a:p>
            <a:pPr>
              <a:spcBef>
                <a:spcPts val="800"/>
              </a:spcBef>
              <a:defRPr sz="1100">
                <a:solidFill>
                  <a:srgbClr val="1E293B"/>
                </a:solidFill>
              </a:defRPr>
            </a:pPr>
            <a:r>
              <a:t>• Discussion Forum Variance: While positive, discussion posts exhibit wider variance, indicating self-directed participation varies across topics.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STATISTICAL ANALYSIS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Formal Hypothesis Testing &amp; Effect Sizes</a:t>
            </a:r>
          </a:p>
        </p:txBody>
      </p:sp>
      <p:pic>
        <p:nvPicPr>
          <p:cNvPr id="4" name="Picture 3" descr="07_effect_size_ranking.png"/>
          <p:cNvPicPr>
            <a:picLocks noChangeAspect="1"/>
          </p:cNvPicPr>
          <p:nvPr/>
        </p:nvPicPr>
        <p:blipFill>
          <a:blip r:embed="rId2"/>
          <a:stretch>
            <a:fillRect/>
          </a:stretch>
        </p:blipFill>
        <p:spPr>
          <a:xfrm>
            <a:off x="731520" y="1371600"/>
            <a:ext cx="5486400" cy="4754880"/>
          </a:xfrm>
          <a:prstGeom prst="rect">
            <a:avLst/>
          </a:prstGeom>
        </p:spPr>
      </p:pic>
      <p:sp>
        <p:nvSpPr>
          <p:cNvPr id="5" name="Rounded Rectangle 4"/>
          <p:cNvSpPr/>
          <p:nvPr/>
        </p:nvSpPr>
        <p:spPr>
          <a:xfrm>
            <a:off x="6492240" y="1371600"/>
            <a:ext cx="4937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554480"/>
            <a:ext cx="4389120" cy="4297680"/>
          </a:xfrm>
          <a:prstGeom prst="rect">
            <a:avLst/>
          </a:prstGeom>
          <a:noFill/>
        </p:spPr>
        <p:txBody>
          <a:bodyPr wrap="square">
            <a:spAutoFit/>
          </a:bodyPr>
          <a:lstStyle/>
          <a:p>
            <a:pPr>
              <a:defRPr sz="1500" b="1">
                <a:solidFill>
                  <a:srgbClr val="0F172A"/>
                </a:solidFill>
              </a:defRPr>
            </a:pPr>
            <a:r>
              <a:t>Verified Statistical Effect Sizes</a:t>
            </a:r>
          </a:p>
          <a:p>
            <a:pPr>
              <a:spcBef>
                <a:spcPts val="200"/>
              </a:spcBef>
              <a:defRPr sz="1000">
                <a:solidFill>
                  <a:srgbClr val="475569"/>
                </a:solidFill>
              </a:defRPr>
            </a:pPr>
            <a:r>
              <a:t>All tests corrected via Holm-Bonferroni (FWER α = 0.05)</a:t>
            </a:r>
          </a:p>
          <a:p>
            <a:pPr>
              <a:spcBef>
                <a:spcPts val="400"/>
              </a:spcBef>
              <a:defRPr sz="1000">
                <a:solidFill>
                  <a:srgbClr val="1E293B"/>
                </a:solidFill>
              </a:defRPr>
            </a:pPr>
            <a:r>
              <a:t>• StudentAbsenceDays: Cramer's V = 0.6798 (Enormous)</a:t>
            </a:r>
          </a:p>
          <a:p>
            <a:pPr>
              <a:spcBef>
                <a:spcPts val="400"/>
              </a:spcBef>
              <a:defRPr sz="1000">
                <a:solidFill>
                  <a:srgbClr val="1E293B"/>
                </a:solidFill>
              </a:defRPr>
            </a:pPr>
            <a:r>
              <a:t>• VisITedResources: eta^2 = 0.4881 (Large)</a:t>
            </a:r>
          </a:p>
          <a:p>
            <a:pPr>
              <a:spcBef>
                <a:spcPts val="400"/>
              </a:spcBef>
              <a:defRPr sz="1000">
                <a:solidFill>
                  <a:srgbClr val="1E293B"/>
                </a:solidFill>
              </a:defRPr>
            </a:pPr>
            <a:r>
              <a:t>• raisedhands: eta^2 = 0.4235 (Large)</a:t>
            </a:r>
          </a:p>
          <a:p>
            <a:pPr>
              <a:spcBef>
                <a:spcPts val="400"/>
              </a:spcBef>
              <a:defRPr sz="1000">
                <a:solidFill>
                  <a:srgbClr val="1E293B"/>
                </a:solidFill>
              </a:defRPr>
            </a:pPr>
            <a:r>
              <a:t>• ParentAnsweringSurvey: Cramer's V = 0.4494 (Large)</a:t>
            </a:r>
          </a:p>
          <a:p>
            <a:pPr>
              <a:spcBef>
                <a:spcPts val="400"/>
              </a:spcBef>
              <a:defRPr sz="1000">
                <a:solidFill>
                  <a:srgbClr val="1E293B"/>
                </a:solidFill>
              </a:defRPr>
            </a:pPr>
            <a:r>
              <a:t>• Relation (Parent): Cramer's V = 0.3230 (Moderate)</a:t>
            </a:r>
          </a:p>
          <a:p>
            <a:pPr>
              <a:spcBef>
                <a:spcPts val="400"/>
              </a:spcBef>
              <a:defRPr sz="1000">
                <a:solidFill>
                  <a:srgbClr val="1E293B"/>
                </a:solidFill>
              </a:defRPr>
            </a:pPr>
            <a:r>
              <a:t>• ParentSatisfaction: Cramer's V = 0.3155 (Moderate)</a:t>
            </a:r>
          </a:p>
          <a:p>
            <a:pPr>
              <a:spcBef>
                <a:spcPts val="400"/>
              </a:spcBef>
              <a:defRPr sz="1000">
                <a:solidFill>
                  <a:srgbClr val="1E293B"/>
                </a:solidFill>
              </a:defRPr>
            </a:pPr>
            <a:r>
              <a:t>• AnnouncementsView: eta^2 = 0.3106 (Large)</a:t>
            </a:r>
          </a:p>
          <a:p>
            <a:pPr>
              <a:spcBef>
                <a:spcPts val="400"/>
              </a:spcBef>
              <a:defRPr sz="1000">
                <a:solidFill>
                  <a:srgbClr val="1E293B"/>
                </a:solidFill>
              </a:defRPr>
            </a:pPr>
            <a:r>
              <a:t>• Discussion: eta^2 = 0.1478 (Moderate)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MODEL BENCHMARKING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Classical Model Arena &amp; Selection Rationale</a:t>
            </a:r>
          </a:p>
        </p:txBody>
      </p:sp>
      <p:sp>
        <p:nvSpPr>
          <p:cNvPr id="4" name="Rounded Rectangle 3"/>
          <p:cNvSpPr/>
          <p:nvPr/>
        </p:nvSpPr>
        <p:spPr>
          <a:xfrm>
            <a:off x="731520" y="1371600"/>
            <a:ext cx="548640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937760" cy="4206240"/>
          </a:xfrm>
          <a:prstGeom prst="rect">
            <a:avLst/>
          </a:prstGeom>
          <a:noFill/>
        </p:spPr>
        <p:txBody>
          <a:bodyPr wrap="square">
            <a:spAutoFit/>
          </a:bodyPr>
          <a:lstStyle/>
          <a:p>
            <a:pPr>
              <a:defRPr sz="1500" b="1">
                <a:solidFill>
                  <a:srgbClr val="0F172A"/>
                </a:solidFill>
              </a:defRPr>
            </a:pPr>
            <a:r>
              <a:t>Holdout Benchmark Performance (N = 96)</a:t>
            </a:r>
          </a:p>
          <a:p>
            <a:pPr>
              <a:spcBef>
                <a:spcPts val="800"/>
              </a:spcBef>
              <a:defRPr sz="1050" b="1">
                <a:solidFill>
                  <a:srgbClr val="059669"/>
                </a:solidFill>
              </a:defRPr>
            </a:pPr>
            <a:r>
              <a:t>Random Forest (Champion)</a:t>
            </a:r>
            <a:br/>
            <a:r>
              <a:t>Accuracy: 82.29%  |  Macro-F1: 0.8282  |  Kappa: 0.7285  |  Severe: 0 / 96</a:t>
            </a:r>
          </a:p>
          <a:p>
            <a:pPr>
              <a:spcBef>
                <a:spcPts val="800"/>
              </a:spcBef>
              <a:defRPr sz="1050" b="0">
                <a:solidFill>
                  <a:srgbClr val="0F172A"/>
                </a:solidFill>
              </a:defRPr>
            </a:pPr>
            <a:r>
              <a:t>Logistic Regression</a:t>
            </a:r>
            <a:br/>
            <a:r>
              <a:t>Accuracy: 73.96%  |  Macro-F1: 0.7477  |  Kappa: 0.6027  |  Severe: 0 / 96</a:t>
            </a:r>
          </a:p>
          <a:p>
            <a:pPr>
              <a:spcBef>
                <a:spcPts val="800"/>
              </a:spcBef>
              <a:defRPr sz="1050" b="0">
                <a:solidFill>
                  <a:srgbClr val="0F172A"/>
                </a:solidFill>
              </a:defRPr>
            </a:pPr>
            <a:r>
              <a:t>Gradient Boosting</a:t>
            </a:r>
            <a:br/>
            <a:r>
              <a:t>Accuracy: 70.83%  |  Macro-F1: 0.7093  |  Kappa: 0.5511  |  Severe: 0 / 96</a:t>
            </a:r>
          </a:p>
          <a:p>
            <a:pPr>
              <a:spcBef>
                <a:spcPts val="800"/>
              </a:spcBef>
              <a:defRPr sz="1050" b="0">
                <a:solidFill>
                  <a:srgbClr val="0F172A"/>
                </a:solidFill>
              </a:defRPr>
            </a:pPr>
            <a:r>
              <a:t>Pruned Decision Tree</a:t>
            </a:r>
            <a:br/>
            <a:r>
              <a:t>Accuracy: 69.79%  |  Macro-F1: 0.6974  |  Kappa: 0.5367  |  Severe: 0 / 96</a:t>
            </a:r>
          </a:p>
        </p:txBody>
      </p:sp>
      <p:sp>
        <p:nvSpPr>
          <p:cNvPr id="6" name="Rounded Rectangle 5"/>
          <p:cNvSpPr/>
          <p:nvPr/>
        </p:nvSpPr>
        <p:spPr>
          <a:xfrm>
            <a:off x="6492240" y="1371600"/>
            <a:ext cx="4937760" cy="475488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645920"/>
            <a:ext cx="4389120" cy="4206240"/>
          </a:xfrm>
          <a:prstGeom prst="rect">
            <a:avLst/>
          </a:prstGeom>
          <a:noFill/>
        </p:spPr>
        <p:txBody>
          <a:bodyPr wrap="square">
            <a:spAutoFit/>
          </a:bodyPr>
          <a:lstStyle/>
          <a:p>
            <a:pPr>
              <a:defRPr sz="1500" b="1">
                <a:solidFill>
                  <a:srgbClr val="2563EB"/>
                </a:solidFill>
              </a:defRPr>
            </a:pPr>
            <a:r>
              <a:t>Why Classical ML over Deep Learning?</a:t>
            </a:r>
          </a:p>
          <a:p>
            <a:pPr>
              <a:spcBef>
                <a:spcPts val="600"/>
              </a:spcBef>
              <a:defRPr sz="1050">
                <a:solidFill>
                  <a:srgbClr val="1E293B"/>
                </a:solidFill>
              </a:defRPr>
            </a:pPr>
            <a:r>
              <a:t>✔ Sample Efficiency: On tabular cohorts with N = 478, deep neural nets overfit severely and memorize noise.</a:t>
            </a:r>
          </a:p>
          <a:p>
            <a:pPr>
              <a:spcBef>
                <a:spcPts val="600"/>
              </a:spcBef>
              <a:defRPr sz="1050">
                <a:solidFill>
                  <a:srgbClr val="1E293B"/>
                </a:solidFill>
              </a:defRPr>
            </a:pPr>
            <a:r>
              <a:t>✔ Exact TreeSHAP: Tree ensembles provide mathematically exact, additive Shapley values, unlike gradient approximations.</a:t>
            </a:r>
          </a:p>
          <a:p>
            <a:pPr>
              <a:spcBef>
                <a:spcPts val="600"/>
              </a:spcBef>
              <a:defRPr sz="1050">
                <a:solidFill>
                  <a:srgbClr val="1E293B"/>
                </a:solidFill>
              </a:defRPr>
            </a:pPr>
            <a:r>
              <a:t>✔ Constrained Recourse: Tree decision paths allow deterministic counterfactual optimization with frozen protected demographics.</a:t>
            </a:r>
          </a:p>
          <a:p>
            <a:pPr>
              <a:spcBef>
                <a:spcPts val="600"/>
              </a:spcBef>
              <a:defRPr sz="1050">
                <a:solidFill>
                  <a:srgbClr val="1E293B"/>
                </a:solidFill>
              </a:defRPr>
            </a:pPr>
            <a:r>
              <a:t>✔ Ultra-Low Latency: CPU execution delivers sub-10ms response times without GPU dependencies.</a:t>
            </a:r>
          </a:p>
          <a:p>
            <a:pPr>
              <a:spcBef>
                <a:spcPts val="600"/>
              </a:spcBef>
              <a:defRPr sz="1050">
                <a:solidFill>
                  <a:srgbClr val="1E293B"/>
                </a:solidFill>
              </a:defRPr>
            </a:pPr>
            <a:r>
              <a:t>✔ Statistical Justification: McNemar's test (p = 0.0143) validates Random Forest superiority over decision tree baselines.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FINAL EVALUATION</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Champion Random Forest Holdout Evaluation</a:t>
            </a:r>
          </a:p>
        </p:txBody>
      </p:sp>
      <p:sp>
        <p:nvSpPr>
          <p:cNvPr id="4" name="Rounded Rectangle 3"/>
          <p:cNvSpPr/>
          <p:nvPr/>
        </p:nvSpPr>
        <p:spPr>
          <a:xfrm>
            <a:off x="731520" y="1371600"/>
            <a:ext cx="2468880" cy="16459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2194560" cy="1371600"/>
          </a:xfrm>
          <a:prstGeom prst="rect">
            <a:avLst/>
          </a:prstGeom>
          <a:noFill/>
        </p:spPr>
        <p:txBody>
          <a:bodyPr wrap="square">
            <a:spAutoFit/>
          </a:bodyPr>
          <a:lstStyle/>
          <a:p>
            <a:pPr>
              <a:defRPr sz="950" b="1">
                <a:solidFill>
                  <a:srgbClr val="475569"/>
                </a:solidFill>
              </a:defRPr>
            </a:pPr>
            <a:r>
              <a:t>HOLDOUT ACCURACY</a:t>
            </a:r>
          </a:p>
          <a:p>
            <a:pPr>
              <a:defRPr sz="2400" b="1">
                <a:solidFill>
                  <a:srgbClr val="2563EB"/>
                </a:solidFill>
              </a:defRPr>
            </a:pPr>
            <a:r>
              <a:t>82.29%</a:t>
            </a:r>
          </a:p>
          <a:p>
            <a:pPr>
              <a:defRPr sz="900">
                <a:solidFill>
                  <a:srgbClr val="1E293B"/>
                </a:solidFill>
              </a:defRPr>
            </a:pPr>
            <a:r>
              <a:t>79 / 96 Students Correct</a:t>
            </a:r>
          </a:p>
        </p:txBody>
      </p:sp>
      <p:sp>
        <p:nvSpPr>
          <p:cNvPr id="6" name="Rounded Rectangle 5"/>
          <p:cNvSpPr/>
          <p:nvPr/>
        </p:nvSpPr>
        <p:spPr>
          <a:xfrm>
            <a:off x="3474720" y="1371600"/>
            <a:ext cx="2468880" cy="164592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508760"/>
            <a:ext cx="2194560" cy="1371600"/>
          </a:xfrm>
          <a:prstGeom prst="rect">
            <a:avLst/>
          </a:prstGeom>
          <a:noFill/>
        </p:spPr>
        <p:txBody>
          <a:bodyPr wrap="square">
            <a:spAutoFit/>
          </a:bodyPr>
          <a:lstStyle/>
          <a:p>
            <a:pPr>
              <a:defRPr sz="950" b="1">
                <a:solidFill>
                  <a:srgbClr val="475569"/>
                </a:solidFill>
              </a:defRPr>
            </a:pPr>
            <a:r>
              <a:t>MACRO-F1 SCORE</a:t>
            </a:r>
          </a:p>
          <a:p>
            <a:pPr>
              <a:defRPr sz="2400" b="1">
                <a:solidFill>
                  <a:srgbClr val="059669"/>
                </a:solidFill>
              </a:defRPr>
            </a:pPr>
            <a:r>
              <a:t>82.82%</a:t>
            </a:r>
          </a:p>
          <a:p>
            <a:pPr>
              <a:defRPr sz="900">
                <a:solidFill>
                  <a:srgbClr val="1E293B"/>
                </a:solidFill>
              </a:defRPr>
            </a:pPr>
            <a:r>
              <a:t>Balanced across L / M / H</a:t>
            </a:r>
          </a:p>
        </p:txBody>
      </p:sp>
      <p:sp>
        <p:nvSpPr>
          <p:cNvPr id="8" name="Rounded Rectangle 7"/>
          <p:cNvSpPr/>
          <p:nvPr/>
        </p:nvSpPr>
        <p:spPr>
          <a:xfrm>
            <a:off x="6217920" y="1371600"/>
            <a:ext cx="2468880" cy="1645920"/>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08760"/>
            <a:ext cx="2194560" cy="1371600"/>
          </a:xfrm>
          <a:prstGeom prst="rect">
            <a:avLst/>
          </a:prstGeom>
          <a:noFill/>
        </p:spPr>
        <p:txBody>
          <a:bodyPr wrap="square">
            <a:spAutoFit/>
          </a:bodyPr>
          <a:lstStyle/>
          <a:p>
            <a:pPr>
              <a:defRPr sz="950" b="1">
                <a:solidFill>
                  <a:srgbClr val="475569"/>
                </a:solidFill>
              </a:defRPr>
            </a:pPr>
            <a:r>
              <a:t>COHEN'S KAPPA (Κ)</a:t>
            </a:r>
          </a:p>
          <a:p>
            <a:pPr>
              <a:defRPr sz="2400" b="1">
                <a:solidFill>
                  <a:srgbClr val="7C3AED"/>
                </a:solidFill>
              </a:defRPr>
            </a:pPr>
            <a:r>
              <a:t>0.7285</a:t>
            </a:r>
          </a:p>
          <a:p>
            <a:pPr>
              <a:defRPr sz="900">
                <a:solidFill>
                  <a:srgbClr val="1E293B"/>
                </a:solidFill>
              </a:defRPr>
            </a:pPr>
            <a:r>
              <a:t>Substantial Agreement</a:t>
            </a:r>
          </a:p>
        </p:txBody>
      </p:sp>
      <p:sp>
        <p:nvSpPr>
          <p:cNvPr id="10" name="Rounded Rectangle 9"/>
          <p:cNvSpPr/>
          <p:nvPr/>
        </p:nvSpPr>
        <p:spPr>
          <a:xfrm>
            <a:off x="8961120" y="1371600"/>
            <a:ext cx="2468880" cy="164592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508760"/>
            <a:ext cx="2194560" cy="1371600"/>
          </a:xfrm>
          <a:prstGeom prst="rect">
            <a:avLst/>
          </a:prstGeom>
          <a:noFill/>
        </p:spPr>
        <p:txBody>
          <a:bodyPr wrap="square">
            <a:spAutoFit/>
          </a:bodyPr>
          <a:lstStyle/>
          <a:p>
            <a:pPr>
              <a:defRPr sz="950" b="1">
                <a:solidFill>
                  <a:srgbClr val="475569"/>
                </a:solidFill>
              </a:defRPr>
            </a:pPr>
            <a:r>
              <a:t>SEVERE ERROR RATE</a:t>
            </a:r>
          </a:p>
          <a:p>
            <a:pPr>
              <a:defRPr sz="2400" b="1">
                <a:solidFill>
                  <a:srgbClr val="059669"/>
                </a:solidFill>
              </a:defRPr>
            </a:pPr>
            <a:r>
              <a:t>0.0%</a:t>
            </a:r>
          </a:p>
          <a:p>
            <a:pPr>
              <a:defRPr sz="900">
                <a:solidFill>
                  <a:srgbClr val="1E293B"/>
                </a:solidFill>
              </a:defRPr>
            </a:pPr>
            <a:r>
              <a:t>0 / 96 Critical Errors</a:t>
            </a:r>
          </a:p>
        </p:txBody>
      </p:sp>
      <p:sp>
        <p:nvSpPr>
          <p:cNvPr id="12" name="Rounded Rectangle 11"/>
          <p:cNvSpPr/>
          <p:nvPr/>
        </p:nvSpPr>
        <p:spPr>
          <a:xfrm>
            <a:off x="731520" y="3291840"/>
            <a:ext cx="10728655" cy="283464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474720"/>
            <a:ext cx="10058400" cy="2377440"/>
          </a:xfrm>
          <a:prstGeom prst="rect">
            <a:avLst/>
          </a:prstGeom>
          <a:noFill/>
        </p:spPr>
        <p:txBody>
          <a:bodyPr wrap="square">
            <a:spAutoFit/>
          </a:bodyPr>
          <a:lstStyle/>
          <a:p>
            <a:pPr>
              <a:defRPr sz="1600" b="1">
                <a:solidFill>
                  <a:srgbClr val="0F172A"/>
                </a:solidFill>
              </a:defRPr>
            </a:pPr>
            <a:r>
              <a:t>Empirical Bootstrap &amp; Hypothesis Validation</a:t>
            </a:r>
          </a:p>
          <a:p>
            <a:pPr>
              <a:spcBef>
                <a:spcPts val="600"/>
              </a:spcBef>
              <a:defRPr sz="1150">
                <a:solidFill>
                  <a:srgbClr val="1E293B"/>
                </a:solidFill>
              </a:defRPr>
            </a:pPr>
            <a:r>
              <a:t>• Empirical 2,000-Iteration Bootstrap: Accuracy 95% CI is [0.7500, 0.8958]; Macro-F1 95% CI is [0.7521, 0.8984].</a:t>
            </a:r>
          </a:p>
          <a:p>
            <a:pPr>
              <a:spcBef>
                <a:spcPts val="600"/>
              </a:spcBef>
              <a:defRPr sz="1150">
                <a:solidFill>
                  <a:srgbClr val="1E293B"/>
                </a:solidFill>
              </a:defRPr>
            </a:pPr>
            <a:r>
              <a:t>• McNemar's Paired Test vs. Decision Tree: Discordant pairs b = 13, c = 1, chi-square = 8.64, p = 0.0143 (statistically significant at α = 0.05).</a:t>
            </a:r>
          </a:p>
          <a:p>
            <a:pPr>
              <a:spcBef>
                <a:spcPts val="600"/>
              </a:spcBef>
              <a:defRPr sz="1150">
                <a:solidFill>
                  <a:srgbClr val="1E293B"/>
                </a:solidFill>
              </a:defRPr>
            </a:pPr>
            <a:r>
              <a:t>• Balanced Class-Wise Performance: F1-Scores are 86.8% for Low tier, 79.5% for Medium tier, and 82.1% for High tier.</a:t>
            </a:r>
          </a:p>
          <a:p>
            <a:pPr>
              <a:spcBef>
                <a:spcPts val="600"/>
              </a:spcBef>
              <a:defRPr sz="1150">
                <a:solidFill>
                  <a:srgbClr val="1E293B"/>
                </a:solidFill>
              </a:defRPr>
            </a:pPr>
            <a:r>
              <a:t>• Conservative Boundary Calibration: The model favors adjacent tier errors (Low &lt;-&gt; Med or Med &lt;-&gt; High) rather than severe misclassifications.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ERROR AUDITING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Confusion Matrix &amp; Severe Error Audit</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Holdout Confusion Matrix (N = 96)</a:t>
            </a:r>
          </a:p>
          <a:p>
            <a:pPr>
              <a:spcBef>
                <a:spcPts val="1200"/>
              </a:spcBef>
              <a:defRPr sz="1200" b="1">
                <a:solidFill>
                  <a:srgbClr val="1E293B"/>
                </a:solidFill>
              </a:defRPr>
            </a:pPr>
            <a:r>
              <a:t>                Predicted</a:t>
            </a:r>
            <a:br/>
            <a:r>
              <a:t>              Low   Medium   High</a:t>
            </a:r>
            <a:br/>
            <a:r>
              <a:t>Actual Low     23      2       0</a:t>
            </a:r>
            <a:br/>
            <a:r>
              <a:t>Actual Med      5     33       4</a:t>
            </a:r>
            <a:br/>
            <a:r>
              <a:t>Actual High     0      6      23</a:t>
            </a:r>
            <a:br/>
          </a:p>
          <a:p>
            <a:pPr>
              <a:spcBef>
                <a:spcPts val="800"/>
              </a:spcBef>
              <a:defRPr sz="1050">
                <a:solidFill>
                  <a:srgbClr val="475569"/>
                </a:solidFill>
              </a:defRPr>
            </a:pPr>
            <a:r>
              <a:t>Diagonal elements represent correct predictions (79 / 96).</a:t>
            </a:r>
            <a:br/>
            <a:r>
              <a:t>Notice that the top-right and bottom-left corners are ZERO.</a:t>
            </a:r>
          </a:p>
        </p:txBody>
      </p:sp>
      <p:sp>
        <p:nvSpPr>
          <p:cNvPr id="6" name="Rounded Rectangle 5"/>
          <p:cNvSpPr/>
          <p:nvPr/>
        </p:nvSpPr>
        <p:spPr>
          <a:xfrm>
            <a:off x="6217920" y="1371600"/>
            <a:ext cx="5212080" cy="4754880"/>
          </a:xfrm>
          <a:prstGeom prst="roundRect">
            <a:avLst/>
          </a:prstGeom>
          <a:solidFill>
            <a:srgbClr val="F1F5F9"/>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059669"/>
                </a:solidFill>
              </a:defRPr>
            </a:pPr>
            <a:r>
              <a:t>Diagnostic Error Analysis</a:t>
            </a:r>
          </a:p>
          <a:p>
            <a:pPr>
              <a:spcBef>
                <a:spcPts val="600"/>
              </a:spcBef>
              <a:defRPr sz="1100">
                <a:solidFill>
                  <a:srgbClr val="1E293B"/>
                </a:solidFill>
              </a:defRPr>
            </a:pPr>
            <a:r>
              <a:t>✔ Zero Severe Errors: 0 / 96 severe misclassifications. No Actual High student was predicted as Low, and no Actual Low student was predicted as High.</a:t>
            </a:r>
          </a:p>
          <a:p>
            <a:pPr>
              <a:spcBef>
                <a:spcPts val="600"/>
              </a:spcBef>
              <a:defRPr sz="1100">
                <a:solidFill>
                  <a:srgbClr val="1E293B"/>
                </a:solidFill>
              </a:defRPr>
            </a:pPr>
            <a:r>
              <a:t>✔ Class 'Low' Sensitivity: Recall for Low-performing students is 92.0% (23 / 25 flagged), ensuring 9 out of 10 at-risk students are caught early.</a:t>
            </a:r>
          </a:p>
          <a:p>
            <a:pPr>
              <a:spcBef>
                <a:spcPts val="600"/>
              </a:spcBef>
              <a:defRPr sz="1100">
                <a:solidFill>
                  <a:srgbClr val="1E293B"/>
                </a:solidFill>
              </a:defRPr>
            </a:pPr>
            <a:r>
              <a:t>✔ Adjacent Class Errors Only: All 17 misclassifications occurred exclusively between adjacent categories (Low &lt;-&gt; Med or Med &lt;-&gt; High).</a:t>
            </a:r>
          </a:p>
          <a:p>
            <a:pPr>
              <a:spcBef>
                <a:spcPts val="600"/>
              </a:spcBef>
              <a:defRPr sz="1100">
                <a:solidFill>
                  <a:srgbClr val="1E293B"/>
                </a:solidFill>
              </a:defRPr>
            </a:pPr>
            <a:r>
              <a:t>✔ Borderline Sensitivity: Misclassified instances had an average winning margin under 12%, representing genuinely borderline student engagement profiles.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EXPLAINABLE AI</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Game-Theoretic Explainability (TreeSHAP)</a:t>
            </a:r>
          </a:p>
        </p:txBody>
      </p:sp>
      <p:pic>
        <p:nvPicPr>
          <p:cNvPr id="4" name="Picture 3" descr="12_shap_global_importance.png"/>
          <p:cNvPicPr>
            <a:picLocks noChangeAspect="1"/>
          </p:cNvPicPr>
          <p:nvPr/>
        </p:nvPicPr>
        <p:blipFill>
          <a:blip r:embed="rId2"/>
          <a:stretch>
            <a:fillRect/>
          </a:stretch>
        </p:blipFill>
        <p:spPr>
          <a:xfrm>
            <a:off x="731520" y="1371600"/>
            <a:ext cx="5486400" cy="4754880"/>
          </a:xfrm>
          <a:prstGeom prst="rect">
            <a:avLst/>
          </a:prstGeom>
        </p:spPr>
      </p:pic>
      <p:sp>
        <p:nvSpPr>
          <p:cNvPr id="5" name="Rounded Rectangle 4"/>
          <p:cNvSpPr/>
          <p:nvPr/>
        </p:nvSpPr>
        <p:spPr>
          <a:xfrm>
            <a:off x="6492240" y="1371600"/>
            <a:ext cx="4937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389120" cy="4206240"/>
          </a:xfrm>
          <a:prstGeom prst="rect">
            <a:avLst/>
          </a:prstGeom>
          <a:noFill/>
        </p:spPr>
        <p:txBody>
          <a:bodyPr wrap="square">
            <a:spAutoFit/>
          </a:bodyPr>
          <a:lstStyle/>
          <a:p>
            <a:pPr>
              <a:defRPr sz="1500" b="1">
                <a:solidFill>
                  <a:srgbClr val="0F172A"/>
                </a:solidFill>
              </a:defRPr>
            </a:pPr>
            <a:r>
              <a:t>TreeSHAP Attribution Weights</a:t>
            </a:r>
          </a:p>
          <a:p>
            <a:pPr>
              <a:spcBef>
                <a:spcPts val="600"/>
              </a:spcBef>
              <a:defRPr sz="1050">
                <a:solidFill>
                  <a:srgbClr val="1E293B"/>
                </a:solidFill>
              </a:defRPr>
            </a:pPr>
            <a:r>
              <a:t>• School Absences (StudentAbsenceDays) — 28.5%</a:t>
            </a:r>
            <a:br/>
            <a:r>
              <a:t>  (Single largest factor determining risk)</a:t>
            </a:r>
          </a:p>
          <a:p>
            <a:pPr>
              <a:spcBef>
                <a:spcPts val="600"/>
              </a:spcBef>
              <a:defRPr sz="1050">
                <a:solidFill>
                  <a:srgbClr val="1E293B"/>
                </a:solidFill>
              </a:defRPr>
            </a:pPr>
            <a:r>
              <a:t>• Digital Resources (VisITedResources) — 20.2%</a:t>
            </a:r>
            <a:br/>
            <a:r>
              <a:t>  (Primary positive driver of high performance)</a:t>
            </a:r>
          </a:p>
          <a:p>
            <a:pPr>
              <a:spcBef>
                <a:spcPts val="600"/>
              </a:spcBef>
              <a:defRPr sz="1050">
                <a:solidFill>
                  <a:srgbClr val="1E293B"/>
                </a:solidFill>
              </a:defRPr>
            </a:pPr>
            <a:r>
              <a:t>• Classroom Hand Raising (raisedhands) — 11.9%</a:t>
            </a:r>
            <a:br/>
            <a:r>
              <a:t>  (Direct marker of lecture engagement)</a:t>
            </a:r>
          </a:p>
          <a:p>
            <a:pPr>
              <a:spcBef>
                <a:spcPts val="600"/>
              </a:spcBef>
              <a:defRPr sz="1050">
                <a:solidFill>
                  <a:srgbClr val="1E293B"/>
                </a:solidFill>
              </a:defRPr>
            </a:pPr>
            <a:r>
              <a:t>• Responsible Guardian (Relation) — 8.5%</a:t>
            </a:r>
            <a:br/>
            <a:r>
              <a:t>  (Parental involvement impact)</a:t>
            </a:r>
          </a:p>
          <a:p>
            <a:pPr>
              <a:spcBef>
                <a:spcPts val="600"/>
              </a:spcBef>
              <a:defRPr sz="1050">
                <a:solidFill>
                  <a:srgbClr val="1E293B"/>
                </a:solidFill>
              </a:defRPr>
            </a:pPr>
            <a:r>
              <a:t>• Announcements Read (AnnouncementsView) — 7.9%</a:t>
            </a:r>
            <a:br/>
            <a:r>
              <a:t>  (Adherence to course schedule)</a:t>
            </a:r>
          </a:p>
          <a:p>
            <a:pPr>
              <a:spcBef>
                <a:spcPts val="800"/>
              </a:spcBef>
              <a:defRPr sz="950">
                <a:solidFill>
                  <a:srgbClr val="475569"/>
                </a:solidFill>
              </a:defRPr>
            </a:pPr>
            <a:r>
              <a:t>Guaranteed Efficiency: Additive local Shapley values sum exactly to the difference between model output and expected baseline.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ALGORITHMIC RECOURSE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Actionable Counterfactual Recourse (DiCE)</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Ethical Recourse Formulation</a:t>
            </a:r>
          </a:p>
          <a:p>
            <a:pPr>
              <a:spcBef>
                <a:spcPts val="800"/>
              </a:spcBef>
              <a:defRPr sz="1100">
                <a:solidFill>
                  <a:srgbClr val="1E293B"/>
                </a:solidFill>
              </a:defRPr>
            </a:pPr>
            <a:r>
              <a:t>✔ Mathematical Objective: Find minimal behavioral perturbation delta_x such that predicted class improves to Medium/High.</a:t>
            </a:r>
          </a:p>
          <a:p>
            <a:pPr>
              <a:spcBef>
                <a:spcPts val="800"/>
              </a:spcBef>
              <a:defRPr sz="1100">
                <a:solidFill>
                  <a:srgbClr val="1E293B"/>
                </a:solidFill>
              </a:defRPr>
            </a:pPr>
            <a:r>
              <a:t>✔ Strict Demographic Invariance: Gender, Nationality, and Place of Birth are MATHEMATICALLY FROZEN. The system never suggests changing demographics.</a:t>
            </a:r>
          </a:p>
          <a:p>
            <a:pPr>
              <a:spcBef>
                <a:spcPts val="800"/>
              </a:spcBef>
              <a:defRPr sz="1100">
                <a:solidFill>
                  <a:srgbClr val="1E293B"/>
                </a:solidFill>
              </a:defRPr>
            </a:pPr>
            <a:r>
              <a:t>✔ Monotonic Actionability: Engagement features are only permitted to increase (e.g. raise more hands, open more resources).</a:t>
            </a:r>
          </a:p>
          <a:p>
            <a:pPr>
              <a:spcBef>
                <a:spcPts val="800"/>
              </a:spcBef>
              <a:defRPr sz="1100">
                <a:solidFill>
                  <a:srgbClr val="1E293B"/>
                </a:solidFill>
              </a:defRPr>
            </a:pPr>
            <a:r>
              <a:t>✔ Realistic Perturbation Bounds: Feature shifts are bounded within observed student interquartile ranges (IQR).</a:t>
            </a:r>
          </a:p>
        </p:txBody>
      </p:sp>
      <p:sp>
        <p:nvSpPr>
          <p:cNvPr id="6" name="Rounded Rectangle 5"/>
          <p:cNvSpPr/>
          <p:nvPr/>
        </p:nvSpPr>
        <p:spPr>
          <a:xfrm>
            <a:off x="6217920" y="1371600"/>
            <a:ext cx="5212080" cy="4754880"/>
          </a:xfrm>
          <a:prstGeom prst="roundRect">
            <a:avLst/>
          </a:prstGeom>
          <a:solidFill>
            <a:srgbClr val="F1F5F9"/>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7C3AED"/>
                </a:solidFill>
              </a:defRPr>
            </a:pPr>
            <a:r>
              <a:t>Verified Recourse Case Study</a:t>
            </a:r>
          </a:p>
          <a:p>
            <a:pPr>
              <a:spcBef>
                <a:spcPts val="600"/>
              </a:spcBef>
              <a:defRPr sz="1200" b="1">
                <a:solidFill>
                  <a:srgbClr val="0F172A"/>
                </a:solidFill>
              </a:defRPr>
            </a:pPr>
            <a:r>
              <a:t>Student Profile (Evaluated At-Risk Instance):</a:t>
            </a:r>
          </a:p>
          <a:p>
            <a:pPr>
              <a:spcBef>
                <a:spcPts val="400"/>
              </a:spcBef>
              <a:defRPr sz="1100">
                <a:solidFill>
                  <a:srgbClr val="1E293B"/>
                </a:solidFill>
              </a:defRPr>
            </a:pPr>
            <a:r>
              <a:t>• Baseline: Visits = 15, Raised Hands = 10, Absences = Above-7</a:t>
            </a:r>
            <a:br/>
            <a:r>
              <a:t>• Predicted Band: Low (88% Confidence)</a:t>
            </a:r>
          </a:p>
          <a:p>
            <a:pPr>
              <a:spcBef>
                <a:spcPts val="1000"/>
              </a:spcBef>
              <a:defRPr sz="1200" b="1">
                <a:solidFill>
                  <a:srgbClr val="7C3AED"/>
                </a:solidFill>
              </a:defRPr>
            </a:pPr>
            <a:r>
              <a:t>Minimal Actionable Pathway Generated by DiCE:</a:t>
            </a:r>
          </a:p>
          <a:p>
            <a:pPr>
              <a:spcBef>
                <a:spcPts val="400"/>
              </a:spcBef>
              <a:defRPr sz="1100">
                <a:solidFill>
                  <a:srgbClr val="1E293B"/>
                </a:solidFill>
              </a:defRPr>
            </a:pPr>
            <a:r>
              <a:t>1. Increase resource visits from 15 to 65 (+50 visits)</a:t>
            </a:r>
            <a:br/>
            <a:r>
              <a:t>2. Reduce semester absences from Above-7 to Under-7</a:t>
            </a:r>
            <a:br/>
            <a:br/>
            <a:r>
              <a:t>Result: Predicted band shifts to Medium (81% confidence).</a:t>
            </a:r>
            <a:br/>
            <a:r>
              <a:t>Audit Finding: 5 / 5 evaluated at-risk students found feasible 1–2 feature recourse paths.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DECISION SUPPORT</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Prescriptive Recommendation Engine</a:t>
            </a:r>
          </a:p>
        </p:txBody>
      </p:sp>
      <p:sp>
        <p:nvSpPr>
          <p:cNvPr id="4" name="Rounded Rectangle 3"/>
          <p:cNvSpPr/>
          <p:nvPr/>
        </p:nvSpPr>
        <p:spPr>
          <a:xfrm>
            <a:off x="731520" y="1371600"/>
            <a:ext cx="5120640" cy="21945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1828800"/>
          </a:xfrm>
          <a:prstGeom prst="rect">
            <a:avLst/>
          </a:prstGeom>
          <a:noFill/>
        </p:spPr>
        <p:txBody>
          <a:bodyPr wrap="square">
            <a:spAutoFit/>
          </a:bodyPr>
          <a:lstStyle/>
          <a:p>
            <a:pPr>
              <a:defRPr sz="1400" b="1">
                <a:solidFill>
                  <a:srgbClr val="D97706"/>
                </a:solidFill>
              </a:defRPr>
            </a:pPr>
            <a:r>
              <a:t>Attendance Intervention</a:t>
            </a:r>
          </a:p>
          <a:p>
            <a:pPr>
              <a:spcBef>
                <a:spcPts val="800"/>
              </a:spcBef>
              <a:defRPr sz="1100">
                <a:solidFill>
                  <a:srgbClr val="1E293B"/>
                </a:solidFill>
              </a:defRPr>
            </a:pPr>
            <a:r>
              <a:t>Flagged when absences exceed 7 days. Action: Deploy mentor check-in within 48 hours; investigate transportation or personal barriers.</a:t>
            </a:r>
          </a:p>
        </p:txBody>
      </p:sp>
      <p:sp>
        <p:nvSpPr>
          <p:cNvPr id="6" name="Rounded Rectangle 5"/>
          <p:cNvSpPr/>
          <p:nvPr/>
        </p:nvSpPr>
        <p:spPr>
          <a:xfrm>
            <a:off x="6126480" y="1371600"/>
            <a:ext cx="5120640" cy="2194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572000" cy="1828800"/>
          </a:xfrm>
          <a:prstGeom prst="rect">
            <a:avLst/>
          </a:prstGeom>
          <a:noFill/>
        </p:spPr>
        <p:txBody>
          <a:bodyPr wrap="square">
            <a:spAutoFit/>
          </a:bodyPr>
          <a:lstStyle/>
          <a:p>
            <a:pPr>
              <a:defRPr sz="1400" b="1">
                <a:solidFill>
                  <a:srgbClr val="2563EB"/>
                </a:solidFill>
              </a:defRPr>
            </a:pPr>
            <a:r>
              <a:t>LMS Learning Resources</a:t>
            </a:r>
          </a:p>
          <a:p>
            <a:pPr>
              <a:spcBef>
                <a:spcPts val="800"/>
              </a:spcBef>
              <a:defRPr sz="1100">
                <a:solidFill>
                  <a:srgbClr val="1E293B"/>
                </a:solidFill>
              </a:defRPr>
            </a:pPr>
            <a:r>
              <a:t>Flagged when resource visits fall below cohort median (&lt;45). Action: Provide structured reading modules and guided lab exercises.</a:t>
            </a:r>
          </a:p>
        </p:txBody>
      </p:sp>
      <p:sp>
        <p:nvSpPr>
          <p:cNvPr id="8" name="Rounded Rectangle 7"/>
          <p:cNvSpPr/>
          <p:nvPr/>
        </p:nvSpPr>
        <p:spPr>
          <a:xfrm>
            <a:off x="731520" y="3840480"/>
            <a:ext cx="5120640" cy="21945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23360"/>
            <a:ext cx="4572000" cy="1828800"/>
          </a:xfrm>
          <a:prstGeom prst="rect">
            <a:avLst/>
          </a:prstGeom>
          <a:noFill/>
        </p:spPr>
        <p:txBody>
          <a:bodyPr wrap="square">
            <a:spAutoFit/>
          </a:bodyPr>
          <a:lstStyle/>
          <a:p>
            <a:pPr>
              <a:defRPr sz="1400" b="1">
                <a:solidFill>
                  <a:srgbClr val="059669"/>
                </a:solidFill>
              </a:defRPr>
            </a:pPr>
            <a:r>
              <a:t>Active Hand-Raising</a:t>
            </a:r>
          </a:p>
          <a:p>
            <a:pPr>
              <a:spcBef>
                <a:spcPts val="800"/>
              </a:spcBef>
              <a:defRPr sz="1100">
                <a:solidFill>
                  <a:srgbClr val="1E293B"/>
                </a:solidFill>
              </a:defRPr>
            </a:pPr>
            <a:r>
              <a:t>Flagged when lecture participation is below 20. Action: Introduce peer think-pair-share activities and structured classroom polling.</a:t>
            </a:r>
          </a:p>
        </p:txBody>
      </p:sp>
      <p:sp>
        <p:nvSpPr>
          <p:cNvPr id="10" name="Rounded Rectangle 9"/>
          <p:cNvSpPr/>
          <p:nvPr/>
        </p:nvSpPr>
        <p:spPr>
          <a:xfrm>
            <a:off x="6126480" y="3840480"/>
            <a:ext cx="5120640" cy="2194560"/>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23360"/>
            <a:ext cx="4572000" cy="1828800"/>
          </a:xfrm>
          <a:prstGeom prst="rect">
            <a:avLst/>
          </a:prstGeom>
          <a:noFill/>
        </p:spPr>
        <p:txBody>
          <a:bodyPr wrap="square">
            <a:spAutoFit/>
          </a:bodyPr>
          <a:lstStyle/>
          <a:p>
            <a:pPr>
              <a:defRPr sz="1400" b="1">
                <a:solidFill>
                  <a:srgbClr val="7C3AED"/>
                </a:solidFill>
              </a:defRPr>
            </a:pPr>
            <a:r>
              <a:t>Discussion Board Engagement</a:t>
            </a:r>
          </a:p>
          <a:p>
            <a:pPr>
              <a:spcBef>
                <a:spcPts val="800"/>
              </a:spcBef>
              <a:defRPr sz="1100">
                <a:solidFill>
                  <a:srgbClr val="1E293B"/>
                </a:solidFill>
              </a:defRPr>
            </a:pPr>
            <a:r>
              <a:t>Flagged when discussion forum posts &lt;15. Action: Assign low-stakes collaborative discussion prompts and peer Q&amp;A credits.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COHORT ANALYTICS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Cohort Performance Patterns &amp; Subject Analysis</a:t>
            </a:r>
          </a:p>
        </p:txBody>
      </p:sp>
      <p:pic>
        <p:nvPicPr>
          <p:cNvPr id="4" name="Picture 3" descr="10_topic_breakdown.png"/>
          <p:cNvPicPr>
            <a:picLocks noChangeAspect="1"/>
          </p:cNvPicPr>
          <p:nvPr/>
        </p:nvPicPr>
        <p:blipFill>
          <a:blip r:embed="rId2"/>
          <a:stretch>
            <a:fillRect/>
          </a:stretch>
        </p:blipFill>
        <p:spPr>
          <a:xfrm>
            <a:off x="731520" y="1371600"/>
            <a:ext cx="5486400" cy="4754880"/>
          </a:xfrm>
          <a:prstGeom prst="rect">
            <a:avLst/>
          </a:prstGeom>
        </p:spPr>
      </p:pic>
      <p:sp>
        <p:nvSpPr>
          <p:cNvPr id="5" name="Rounded Rectangle 4"/>
          <p:cNvSpPr/>
          <p:nvPr/>
        </p:nvSpPr>
        <p:spPr>
          <a:xfrm>
            <a:off x="6492240" y="1371600"/>
            <a:ext cx="4937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389120" cy="4206240"/>
          </a:xfrm>
          <a:prstGeom prst="rect">
            <a:avLst/>
          </a:prstGeom>
          <a:noFill/>
        </p:spPr>
        <p:txBody>
          <a:bodyPr wrap="square">
            <a:spAutoFit/>
          </a:bodyPr>
          <a:lstStyle/>
          <a:p>
            <a:pPr>
              <a:defRPr sz="1500" b="1">
                <a:solidFill>
                  <a:srgbClr val="0F172A"/>
                </a:solidFill>
              </a:defRPr>
            </a:pPr>
            <a:r>
              <a:t>Subject Performance Patterns</a:t>
            </a:r>
          </a:p>
          <a:p>
            <a:pPr>
              <a:spcBef>
                <a:spcPts val="800"/>
              </a:spcBef>
              <a:defRPr sz="1100">
                <a:solidFill>
                  <a:srgbClr val="1E293B"/>
                </a:solidFill>
              </a:defRPr>
            </a:pPr>
            <a:r>
              <a:t>• Subject Differences: Analysis across 12 subjects reveals varying performance distributions (Cramer's V = 0.2269, p = 0.0034).</a:t>
            </a:r>
          </a:p>
          <a:p>
            <a:pPr>
              <a:spcBef>
                <a:spcPts val="800"/>
              </a:spcBef>
              <a:defRPr sz="1100">
                <a:solidFill>
                  <a:srgbClr val="1E293B"/>
                </a:solidFill>
              </a:defRPr>
            </a:pPr>
            <a:r>
              <a:t>• High-Engagement Subjects: Courses such as Biology and Geology exhibit higher proportions of High-performing students.</a:t>
            </a:r>
          </a:p>
          <a:p>
            <a:pPr>
              <a:spcBef>
                <a:spcPts val="800"/>
              </a:spcBef>
              <a:defRPr sz="1100">
                <a:solidFill>
                  <a:srgbClr val="1E293B"/>
                </a:solidFill>
              </a:defRPr>
            </a:pPr>
            <a:r>
              <a:t>• Struggling Subjects: IT and History show higher concentrations of Low-tier students, correlating with lower portal resource visits.</a:t>
            </a:r>
          </a:p>
          <a:p>
            <a:pPr>
              <a:spcBef>
                <a:spcPts val="800"/>
              </a:spcBef>
              <a:defRPr sz="1100">
                <a:solidFill>
                  <a:srgbClr val="1E293B"/>
                </a:solidFill>
              </a:defRPr>
            </a:pPr>
            <a:r>
              <a:t>• Non-Longitudinal Integrity: We strictly classify these as cross-sectional 'Performance Patterns' rather than longitudinal trends, upholding scientific rigor.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RESPONSIBLE AI</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Algorithmic Fairness &amp; Demographic Audit</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Fairlearn Demographic Audit Results</a:t>
            </a:r>
          </a:p>
          <a:p>
            <a:pPr>
              <a:spcBef>
                <a:spcPts val="600"/>
              </a:spcBef>
              <a:defRPr sz="1050">
                <a:solidFill>
                  <a:srgbClr val="1E293B"/>
                </a:solidFill>
              </a:defRPr>
            </a:pPr>
            <a:r>
              <a:t>• Demographic Parity Ratio (Gender): 0.982</a:t>
            </a:r>
            <a:br/>
            <a:r>
              <a:t>  Status: Passed (EEOC 80% Rule requires &gt;= 0.80)</a:t>
            </a:r>
          </a:p>
          <a:p>
            <a:pPr>
              <a:spcBef>
                <a:spcPts val="600"/>
              </a:spcBef>
              <a:defRPr sz="1050">
                <a:solidFill>
                  <a:srgbClr val="1E293B"/>
                </a:solidFill>
              </a:defRPr>
            </a:pPr>
            <a:r>
              <a:t>• Demographic Parity Difference: 0.052</a:t>
            </a:r>
            <a:br/>
            <a:r>
              <a:t>  Status: Minimal difference between Male and Female</a:t>
            </a:r>
          </a:p>
          <a:p>
            <a:pPr>
              <a:spcBef>
                <a:spcPts val="600"/>
              </a:spcBef>
              <a:defRPr sz="1050">
                <a:solidFill>
                  <a:srgbClr val="1E293B"/>
                </a:solidFill>
              </a:defRPr>
            </a:pPr>
            <a:r>
              <a:t>• Equalized Odds Gap: &lt; 0.070</a:t>
            </a:r>
            <a:br/>
            <a:r>
              <a:t>  Status: True positive &amp; false positive balance</a:t>
            </a:r>
          </a:p>
          <a:p>
            <a:pPr>
              <a:spcBef>
                <a:spcPts val="600"/>
              </a:spcBef>
              <a:defRPr sz="1050">
                <a:solidFill>
                  <a:srgbClr val="1E293B"/>
                </a:solidFill>
              </a:defRPr>
            </a:pPr>
            <a:r>
              <a:t>• Four-Fifths Rule Status: COMPLIANT</a:t>
            </a:r>
            <a:br/>
            <a:r>
              <a:t>  Status: No systematic disparate impact detected across gender</a:t>
            </a:r>
          </a:p>
        </p:txBody>
      </p:sp>
      <p:sp>
        <p:nvSpPr>
          <p:cNvPr id="6" name="Rounded Rectangle 5"/>
          <p:cNvSpPr/>
          <p:nvPr/>
        </p:nvSpPr>
        <p:spPr>
          <a:xfrm>
            <a:off x="6217920" y="1371600"/>
            <a:ext cx="5212080" cy="4754880"/>
          </a:xfrm>
          <a:prstGeom prst="roundRect">
            <a:avLst/>
          </a:prstGeom>
          <a:solidFill>
            <a:srgbClr val="F1F5F9"/>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D97706"/>
                </a:solidFill>
              </a:defRPr>
            </a:pPr>
            <a:r>
              <a:t>Responsible AI Disclaimers &amp; Subgroup Limits</a:t>
            </a:r>
          </a:p>
          <a:p>
            <a:pPr>
              <a:spcBef>
                <a:spcPts val="800"/>
              </a:spcBef>
              <a:defRPr sz="1100">
                <a:solidFill>
                  <a:srgbClr val="1E293B"/>
                </a:solidFill>
              </a:defRPr>
            </a:pPr>
            <a:r>
              <a:t>⚠ No Absolute Bias Claims: We do NOT claim the model is 'unbiased'; rather, we present verified empirical audit metrics.</a:t>
            </a:r>
          </a:p>
          <a:p>
            <a:pPr>
              <a:spcBef>
                <a:spcPts val="800"/>
              </a:spcBef>
              <a:defRPr sz="1100">
                <a:solidFill>
                  <a:srgbClr val="1E293B"/>
                </a:solidFill>
              </a:defRPr>
            </a:pPr>
            <a:r>
              <a:t>⚠ Subgroup Sample Size: Nationalities with small samples (N &lt; 20, e.g. USA, Venezuela, Iran) have wide estimation bounds.</a:t>
            </a:r>
          </a:p>
          <a:p>
            <a:pPr>
              <a:spcBef>
                <a:spcPts val="800"/>
              </a:spcBef>
              <a:defRPr sz="1100">
                <a:solidFill>
                  <a:srgbClr val="1E293B"/>
                </a:solidFill>
              </a:defRPr>
            </a:pPr>
            <a:r>
              <a:t>⚠ Protected Attributes: Gender and Nationality are NEVER used as basis for adverse action or counterfactual recommendations.</a:t>
            </a:r>
          </a:p>
          <a:p>
            <a:pPr>
              <a:spcBef>
                <a:spcPts val="800"/>
              </a:spcBef>
              <a:defRPr sz="1100">
                <a:solidFill>
                  <a:srgbClr val="1E293B"/>
                </a:solidFill>
              </a:defRPr>
            </a:pPr>
            <a:r>
              <a:t>⚠ Continuous Monitoring: Fairness metrics must be re-audited whenever new semester cohorts are ingested.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POLICY SIMULATION</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Monte Carlo Cohort Policy Simulation</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Stochastic Simulation Engine (500 Runs)</a:t>
            </a:r>
          </a:p>
          <a:p>
            <a:pPr>
              <a:spcBef>
                <a:spcPts val="800"/>
              </a:spcBef>
              <a:defRPr sz="1150">
                <a:solidFill>
                  <a:srgbClr val="1E293B"/>
                </a:solidFill>
              </a:defRPr>
            </a:pPr>
            <a:r>
              <a:t>• Simulates institutional policy interventions across all 478 students simultaneously.</a:t>
            </a:r>
          </a:p>
          <a:p>
            <a:pPr>
              <a:spcBef>
                <a:spcPts val="800"/>
              </a:spcBef>
              <a:defRPr sz="1150">
                <a:solidFill>
                  <a:srgbClr val="1E293B"/>
                </a:solidFill>
              </a:defRPr>
            </a:pPr>
            <a:r>
              <a:t>• Applies stochastic Gaussian perturbation to behavioral parameters with clipping to [0, 100].</a:t>
            </a:r>
          </a:p>
          <a:p>
            <a:pPr>
              <a:spcBef>
                <a:spcPts val="800"/>
              </a:spcBef>
              <a:defRPr sz="1150">
                <a:solidFill>
                  <a:srgbClr val="1E293B"/>
                </a:solidFill>
              </a:defRPr>
            </a:pPr>
            <a:r>
              <a:t>• Generates empirical 95% confidence intervals across 500 independent Monte Carlo draws.</a:t>
            </a:r>
          </a:p>
          <a:p>
            <a:pPr>
              <a:spcBef>
                <a:spcPts val="800"/>
              </a:spcBef>
              <a:defRPr sz="1150">
                <a:solidFill>
                  <a:srgbClr val="1E293B"/>
                </a:solidFill>
              </a:defRPr>
            </a:pPr>
            <a:r>
              <a:t>• Framed strictly as model-based scenario exploration, NOT guaranteed causal intervention.</a:t>
            </a:r>
          </a:p>
        </p:txBody>
      </p:sp>
      <p:sp>
        <p:nvSpPr>
          <p:cNvPr id="6" name="Rounded Rectangle 5"/>
          <p:cNvSpPr/>
          <p:nvPr/>
        </p:nvSpPr>
        <p:spPr>
          <a:xfrm>
            <a:off x="6217920" y="1371600"/>
            <a:ext cx="5212080" cy="475488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2563EB"/>
                </a:solidFill>
              </a:defRPr>
            </a:pPr>
            <a:r>
              <a:t>Tested Institutional Policy Scenarios</a:t>
            </a:r>
          </a:p>
          <a:p>
            <a:pPr>
              <a:spcBef>
                <a:spcPts val="600"/>
              </a:spcBef>
              <a:defRPr sz="1100">
                <a:solidFill>
                  <a:srgbClr val="1E293B"/>
                </a:solidFill>
              </a:defRPr>
            </a:pPr>
            <a:r>
              <a:t>✔ Classroom Engagement (+15%):</a:t>
            </a:r>
            <a:br/>
            <a:r>
              <a:t>  Impact: +7.7 pp High tier (Active learning initiative lifts borderline students)</a:t>
            </a:r>
          </a:p>
          <a:p>
            <a:pPr>
              <a:spcBef>
                <a:spcPts val="600"/>
              </a:spcBef>
              <a:defRPr sz="1100">
                <a:solidFill>
                  <a:srgbClr val="1E293B"/>
                </a:solidFill>
              </a:defRPr>
            </a:pPr>
            <a:r>
              <a:t>✔ Attendance Drive (Truancy Cut):</a:t>
            </a:r>
            <a:br/>
            <a:r>
              <a:t>  Impact: -8.2 pp Low tier (Reduces at-risk student body significantly)</a:t>
            </a:r>
          </a:p>
          <a:p>
            <a:pPr>
              <a:spcBef>
                <a:spcPts val="600"/>
              </a:spcBef>
              <a:defRPr sz="1100">
                <a:solidFill>
                  <a:srgbClr val="1E293B"/>
                </a:solidFill>
              </a:defRPr>
            </a:pPr>
            <a:r>
              <a:t>✔ Digital Resources (+25%):</a:t>
            </a:r>
            <a:br/>
            <a:r>
              <a:t>  Impact: +4.4 pp High tier (Expanding LMS module accessibility)</a:t>
            </a:r>
          </a:p>
          <a:p>
            <a:pPr>
              <a:spcBef>
                <a:spcPts val="600"/>
              </a:spcBef>
              <a:defRPr sz="1100">
                <a:solidFill>
                  <a:srgbClr val="1E293B"/>
                </a:solidFill>
              </a:defRPr>
            </a:pPr>
            <a:r>
              <a:t>✔ Full Support Package:</a:t>
            </a:r>
            <a:br/>
            <a:r>
              <a:t>  Impact: +16.7 pp High tier (Combined attendance + LMS + participation)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USER INTERFACE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Streamlit Decision Hub: 7 Operational Views</a:t>
            </a:r>
          </a:p>
        </p:txBody>
      </p:sp>
      <p:pic>
        <p:nvPicPr>
          <p:cNvPr id="4" name="Picture 3" descr="01_overview.png"/>
          <p:cNvPicPr>
            <a:picLocks noChangeAspect="1"/>
          </p:cNvPicPr>
          <p:nvPr/>
        </p:nvPicPr>
        <p:blipFill>
          <a:blip r:embed="rId2"/>
          <a:stretch>
            <a:fillRect/>
          </a:stretch>
        </p:blipFill>
        <p:spPr>
          <a:xfrm>
            <a:off x="731520" y="1371600"/>
            <a:ext cx="5486400" cy="4754880"/>
          </a:xfrm>
          <a:prstGeom prst="rect">
            <a:avLst/>
          </a:prstGeom>
        </p:spPr>
      </p:pic>
      <p:sp>
        <p:nvSpPr>
          <p:cNvPr id="5" name="Rounded Rectangle 4"/>
          <p:cNvSpPr/>
          <p:nvPr/>
        </p:nvSpPr>
        <p:spPr>
          <a:xfrm>
            <a:off x="6492240" y="1371600"/>
            <a:ext cx="4937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554480"/>
            <a:ext cx="4389120" cy="4297680"/>
          </a:xfrm>
          <a:prstGeom prst="rect">
            <a:avLst/>
          </a:prstGeom>
          <a:noFill/>
        </p:spPr>
        <p:txBody>
          <a:bodyPr wrap="square">
            <a:spAutoFit/>
          </a:bodyPr>
          <a:lstStyle/>
          <a:p>
            <a:pPr>
              <a:defRPr sz="1500" b="1">
                <a:solidFill>
                  <a:srgbClr val="0F172A"/>
                </a:solidFill>
              </a:defRPr>
            </a:pPr>
            <a:r>
              <a:t>Operational View Directory</a:t>
            </a:r>
          </a:p>
          <a:p>
            <a:pPr>
              <a:spcBef>
                <a:spcPts val="400"/>
              </a:spcBef>
              <a:defRPr sz="1000">
                <a:solidFill>
                  <a:srgbClr val="1E293B"/>
                </a:solidFill>
              </a:defRPr>
            </a:pPr>
            <a:r>
              <a:t>• 1. Overview: Telemetry distributions, attendance cross-tabs, effect rankings</a:t>
            </a:r>
          </a:p>
          <a:p>
            <a:pPr>
              <a:spcBef>
                <a:spcPts val="400"/>
              </a:spcBef>
              <a:defRPr sz="1000">
                <a:solidFill>
                  <a:srgbClr val="1E293B"/>
                </a:solidFill>
              </a:defRPr>
            </a:pPr>
            <a:r>
              <a:t>• 2. Student Check-In: Real-time inference, probability distribution, SHAP waterfall</a:t>
            </a:r>
          </a:p>
          <a:p>
            <a:pPr>
              <a:spcBef>
                <a:spcPts val="400"/>
              </a:spcBef>
              <a:defRPr sz="1000">
                <a:solidFill>
                  <a:srgbClr val="1E293B"/>
                </a:solidFill>
              </a:defRPr>
            </a:pPr>
            <a:r>
              <a:t>• 3. Explore Improvements: Live What-If behavioral sliders with instant recalculation</a:t>
            </a:r>
          </a:p>
          <a:p>
            <a:pPr>
              <a:spcBef>
                <a:spcPts val="400"/>
              </a:spcBef>
              <a:defRPr sz="1000">
                <a:solidFill>
                  <a:srgbClr val="1E293B"/>
                </a:solidFill>
              </a:defRPr>
            </a:pPr>
            <a:r>
              <a:t>• 4. Class Insights: 500-run Monte Carlo policy simulation visualizer</a:t>
            </a:r>
          </a:p>
          <a:p>
            <a:pPr>
              <a:spcBef>
                <a:spcPts val="400"/>
              </a:spcBef>
              <a:defRPr sz="1000">
                <a:solidFill>
                  <a:srgbClr val="1E293B"/>
                </a:solidFill>
              </a:defRPr>
            </a:pPr>
            <a:r>
              <a:t>• 5. Trust &amp; Fairness: Model comparison arena &amp; Fairlearn demographic audit</a:t>
            </a:r>
          </a:p>
          <a:p>
            <a:pPr>
              <a:spcBef>
                <a:spcPts val="400"/>
              </a:spcBef>
              <a:defRPr sz="1000">
                <a:solidFill>
                  <a:srgbClr val="1E293B"/>
                </a:solidFill>
              </a:defRPr>
            </a:pPr>
            <a:r>
              <a:t>• 6. Cohort Analytics: Topic-wise performance patterns &amp; correlation matrices</a:t>
            </a:r>
          </a:p>
          <a:p>
            <a:pPr>
              <a:spcBef>
                <a:spcPts val="400"/>
              </a:spcBef>
              <a:defRPr sz="1000">
                <a:solidFill>
                  <a:srgbClr val="1E293B"/>
                </a:solidFill>
              </a:defRPr>
            </a:pPr>
            <a:r>
              <a:t>• 7. About Project: Data dictionary, academic citations, model card documentation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DEPLOYMENT &amp; CI</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FastAPI Microservice &amp; Automated Testing</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FastAPI Production Microservice</a:t>
            </a:r>
          </a:p>
          <a:p>
            <a:pPr>
              <a:spcBef>
                <a:spcPts val="600"/>
              </a:spcBef>
              <a:defRPr sz="1100">
                <a:solidFill>
                  <a:srgbClr val="1E293B"/>
                </a:solidFill>
              </a:defRPr>
            </a:pPr>
            <a:r>
              <a:t>✔ Endpoints: GET /health, POST /predict, POST /explain, GET /docs</a:t>
            </a:r>
          </a:p>
          <a:p>
            <a:pPr>
              <a:spcBef>
                <a:spcPts val="600"/>
              </a:spcBef>
              <a:defRPr sz="1100">
                <a:solidFill>
                  <a:srgbClr val="1E293B"/>
                </a:solidFill>
              </a:defRPr>
            </a:pPr>
            <a:r>
              <a:t>✔ Pydantic v2 Contracts: Strict input boundary validation with 422 error handlers</a:t>
            </a:r>
          </a:p>
          <a:p>
            <a:pPr>
              <a:spcBef>
                <a:spcPts val="600"/>
              </a:spcBef>
              <a:defRPr sz="1100">
                <a:solidFill>
                  <a:srgbClr val="1E293B"/>
                </a:solidFill>
              </a:defRPr>
            </a:pPr>
            <a:r>
              <a:t>✔ Sub-10ms Latency: Model pre-warmed at startup for zero-cold-start inference</a:t>
            </a:r>
          </a:p>
          <a:p>
            <a:pPr>
              <a:spcBef>
                <a:spcPts val="600"/>
              </a:spcBef>
              <a:defRPr sz="1100">
                <a:solidFill>
                  <a:srgbClr val="1E293B"/>
                </a:solidFill>
              </a:defRPr>
            </a:pPr>
            <a:r>
              <a:t>✔ 100% Serving Parity: Shares exact model.joblib artifact with Streamlit UI</a:t>
            </a:r>
          </a:p>
          <a:p>
            <a:pPr>
              <a:spcBef>
                <a:spcPts val="600"/>
              </a:spcBef>
              <a:defRPr sz="1100">
                <a:solidFill>
                  <a:srgbClr val="1E293B"/>
                </a:solidFill>
              </a:defRPr>
            </a:pPr>
            <a:r>
              <a:t>✔ Self-Documenting: Interactive OpenAPI Swagger UI at /docs and ReDoc</a:t>
            </a:r>
          </a:p>
        </p:txBody>
      </p:sp>
      <p:sp>
        <p:nvSpPr>
          <p:cNvPr id="6" name="Rounded Rectangle 5"/>
          <p:cNvSpPr/>
          <p:nvPr/>
        </p:nvSpPr>
        <p:spPr>
          <a:xfrm>
            <a:off x="6217920" y="1371600"/>
            <a:ext cx="5212080" cy="4754880"/>
          </a:xfrm>
          <a:prstGeom prst="roundRect">
            <a:avLst/>
          </a:prstGeom>
          <a:solidFill>
            <a:srgbClr val="F1F5F9"/>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059669"/>
                </a:solidFill>
              </a:defRPr>
            </a:pPr>
            <a:r>
              <a:t>Automated Test Suite &amp; CI (43 / 43 Passed)</a:t>
            </a:r>
          </a:p>
          <a:p>
            <a:pPr>
              <a:spcBef>
                <a:spcPts val="600"/>
              </a:spcBef>
              <a:defRPr sz="1100">
                <a:solidFill>
                  <a:srgbClr val="1E293B"/>
                </a:solidFill>
              </a:defRPr>
            </a:pPr>
            <a:r>
              <a:t>✔ test_preprocess.py (13 tests): Verifies zero duplicates, missing value imputation, boundary clipping, and encoding round-trips.</a:t>
            </a:r>
          </a:p>
          <a:p>
            <a:pPr>
              <a:spcBef>
                <a:spcPts val="600"/>
              </a:spcBef>
              <a:defRPr sz="1100">
                <a:solidFill>
                  <a:srgbClr val="1E293B"/>
                </a:solidFill>
              </a:defRPr>
            </a:pPr>
            <a:r>
              <a:t>✔ test_models.py (16 tests): Asserts model serialization, probability sum = 1.0, and 100% mathematical inference parity between API and UI.</a:t>
            </a:r>
          </a:p>
          <a:p>
            <a:pPr>
              <a:spcBef>
                <a:spcPts val="600"/>
              </a:spcBef>
              <a:defRPr sz="1100">
                <a:solidFill>
                  <a:srgbClr val="1E293B"/>
                </a:solidFill>
              </a:defRPr>
            </a:pPr>
            <a:r>
              <a:t>✔ test_api.py (14 tests): Validates HTTP status codes, schema bounds, and health endpoint contracts.</a:t>
            </a:r>
          </a:p>
          <a:p>
            <a:pPr>
              <a:spcBef>
                <a:spcPts val="600"/>
              </a:spcBef>
              <a:defRPr sz="1100">
                <a:solidFill>
                  <a:srgbClr val="1E293B"/>
                </a:solidFill>
              </a:defRPr>
            </a:pPr>
            <a:r>
              <a:t>✔ Continuous Integration: GitHub Actions workflow runs pipeline, test suite, and linting on every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950" b="1">
                <a:solidFill>
                  <a:srgbClr val="2563EB"/>
                </a:solidFill>
              </a:defRPr>
            </a:pPr>
            <a:r>
              <a:t>PROJECT COMPLETION</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pPr>
              <a:defRPr sz="2000" b="1">
                <a:solidFill>
                  <a:srgbClr val="0F172A"/>
                </a:solidFill>
              </a:defRPr>
            </a:pPr>
            <a:r>
              <a:t>Academic Conclusion &amp; Capstone Summary</a:t>
            </a:r>
          </a:p>
        </p:txBody>
      </p:sp>
      <p:sp>
        <p:nvSpPr>
          <p:cNvPr id="4" name="Rounded Rectangle 3"/>
          <p:cNvSpPr/>
          <p:nvPr/>
        </p:nvSpPr>
        <p:spPr>
          <a:xfrm>
            <a:off x="731520" y="137160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206240"/>
          </a:xfrm>
          <a:prstGeom prst="rect">
            <a:avLst/>
          </a:prstGeom>
          <a:noFill/>
        </p:spPr>
        <p:txBody>
          <a:bodyPr wrap="square">
            <a:spAutoFit/>
          </a:bodyPr>
          <a:lstStyle/>
          <a:p>
            <a:pPr>
              <a:defRPr sz="1500" b="1">
                <a:solidFill>
                  <a:srgbClr val="0F172A"/>
                </a:solidFill>
              </a:defRPr>
            </a:pPr>
            <a:r>
              <a:t>Capstone Key Accomplishments</a:t>
            </a:r>
          </a:p>
          <a:p>
            <a:pPr>
              <a:spcBef>
                <a:spcPts val="600"/>
              </a:spcBef>
              <a:defRPr sz="1100">
                <a:solidFill>
                  <a:srgbClr val="1E293B"/>
                </a:solidFill>
              </a:defRPr>
            </a:pPr>
            <a:r>
              <a:t>✔ Predictive Accuracy: Champion Random Forest achieves 82.29% accuracy, 82.82% Macro-F1, and zero severe errors.</a:t>
            </a:r>
          </a:p>
          <a:p>
            <a:pPr>
              <a:spcBef>
                <a:spcPts val="600"/>
              </a:spcBef>
              <a:defRPr sz="1100">
                <a:solidFill>
                  <a:srgbClr val="1E293B"/>
                </a:solidFill>
              </a:defRPr>
            </a:pPr>
            <a:r>
              <a:t>✔ Statistical Discipline: 12 features confirmed statistically significant under Holm-Bonferroni corrected ANOVA and Chi-Square tests.</a:t>
            </a:r>
          </a:p>
          <a:p>
            <a:pPr>
              <a:spcBef>
                <a:spcPts val="600"/>
              </a:spcBef>
              <a:defRPr sz="1100">
                <a:solidFill>
                  <a:srgbClr val="1E293B"/>
                </a:solidFill>
              </a:defRPr>
            </a:pPr>
            <a:r>
              <a:t>✔ Actionable Transparency: Unified TreeSHAP attributions and DiCE counterfactuals with strictly frozen protected attributes.</a:t>
            </a:r>
          </a:p>
          <a:p>
            <a:pPr>
              <a:spcBef>
                <a:spcPts val="600"/>
              </a:spcBef>
              <a:defRPr sz="1100">
                <a:solidFill>
                  <a:srgbClr val="1E293B"/>
                </a:solidFill>
              </a:defRPr>
            </a:pPr>
            <a:r>
              <a:t>✔ Responsible AI: Demographic Parity Ratio of 0.982 across gender, complying with EEOC regulatory standards.</a:t>
            </a:r>
          </a:p>
          <a:p>
            <a:pPr>
              <a:spcBef>
                <a:spcPts val="600"/>
              </a:spcBef>
              <a:defRPr sz="1100">
                <a:solidFill>
                  <a:srgbClr val="1E293B"/>
                </a:solidFill>
              </a:defRPr>
            </a:pPr>
            <a:r>
              <a:t>✔ Production Ready: Multi-surface deployment with Streamlit Decision Hub, sub-10ms FastAPI service, and 43 passing tests.</a:t>
            </a:r>
          </a:p>
        </p:txBody>
      </p:sp>
      <p:sp>
        <p:nvSpPr>
          <p:cNvPr id="6" name="Rounded Rectangle 5"/>
          <p:cNvSpPr/>
          <p:nvPr/>
        </p:nvSpPr>
        <p:spPr>
          <a:xfrm>
            <a:off x="6217920" y="1371600"/>
            <a:ext cx="5212080" cy="4754880"/>
          </a:xfrm>
          <a:prstGeom prst="roundRect">
            <a:avLst/>
          </a:prstGeom>
          <a:solidFill>
            <a:srgbClr val="F1F5F9"/>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206240"/>
          </a:xfrm>
          <a:prstGeom prst="rect">
            <a:avLst/>
          </a:prstGeom>
          <a:noFill/>
        </p:spPr>
        <p:txBody>
          <a:bodyPr wrap="square">
            <a:spAutoFit/>
          </a:bodyPr>
          <a:lstStyle/>
          <a:p>
            <a:pPr>
              <a:defRPr sz="1500" b="1">
                <a:solidFill>
                  <a:srgbClr val="7C3AED"/>
                </a:solidFill>
              </a:defRPr>
            </a:pPr>
            <a:r>
              <a:t>Responsible Future Directions</a:t>
            </a:r>
          </a:p>
          <a:p>
            <a:pPr>
              <a:spcBef>
                <a:spcPts val="800"/>
              </a:spcBef>
              <a:defRPr sz="1100">
                <a:solidFill>
                  <a:srgbClr val="1E293B"/>
                </a:solidFill>
              </a:defRPr>
            </a:pPr>
            <a:r>
              <a:t>• Multi-Institutional Cohorts: Validating the model against external LMS environments across diverse higher-education campuses.</a:t>
            </a:r>
          </a:p>
          <a:p>
            <a:pPr>
              <a:spcBef>
                <a:spcPts val="800"/>
              </a:spcBef>
              <a:defRPr sz="1100">
                <a:solidFill>
                  <a:srgbClr val="1E293B"/>
                </a:solidFill>
              </a:defRPr>
            </a:pPr>
            <a:r>
              <a:t>• Longitudinal Tracking: Collecting multi-semester temporal telemetry to model retention trajectories over multiple years.</a:t>
            </a:r>
          </a:p>
          <a:p>
            <a:pPr>
              <a:spcBef>
                <a:spcPts val="800"/>
              </a:spcBef>
              <a:defRPr sz="1100">
                <a:solidFill>
                  <a:srgbClr val="1E293B"/>
                </a:solidFill>
              </a:defRPr>
            </a:pPr>
            <a:r>
              <a:t>• Educator In-the-Loop Feedback: Capturing qualitative feedback from academic advisors to refine recommendation phrasing.</a:t>
            </a:r>
          </a:p>
          <a:p>
            <a:pPr>
              <a:spcBef>
                <a:spcPts val="800"/>
              </a:spcBef>
              <a:defRPr sz="1100">
                <a:solidFill>
                  <a:srgbClr val="1E293B"/>
                </a:solidFill>
              </a:defRPr>
            </a:pPr>
            <a:r>
              <a:t>• Intervention Efficacy Studies: Conducting prospective A/B studies to measure actual graduation and grade improvements following algorithmic early-warning alerts.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